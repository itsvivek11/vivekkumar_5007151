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66" r:id="rId3"/>
    <p:sldId id="257" r:id="rId4"/>
    <p:sldId id="267" r:id="rId5"/>
    <p:sldId id="268" r:id="rId6"/>
    <p:sldId id="258" r:id="rId7"/>
    <p:sldId id="269" r:id="rId8"/>
    <p:sldId id="259" r:id="rId9"/>
    <p:sldId id="260" r:id="rId10"/>
    <p:sldId id="270" r:id="rId11"/>
    <p:sldId id="261" r:id="rId12"/>
    <p:sldId id="262" r:id="rId13"/>
    <p:sldId id="271" r:id="rId14"/>
    <p:sldId id="265" r:id="rId15"/>
  </p:sldIdLst>
  <p:sldSz cx="14630400" cy="8229600"/>
  <p:notesSz cx="8229600" cy="14630400"/>
  <p:embeddedFontLst>
    <p:embeddedFont>
      <p:font typeface="Consolas" panose="020B0609020204030204" pitchFamily="49" charset="0"/>
      <p:regular r:id="rId17"/>
      <p:bold r:id="rId18"/>
      <p:italic r:id="rId19"/>
      <p:boldItalic r:id="rId20"/>
    </p:embeddedFont>
    <p:embeddedFont>
      <p:font typeface="Montserrat" panose="00000500000000000000" pitchFamily="2"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40"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959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GB"/>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GB"/>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337316"/>
            <a:ext cx="7556421" cy="2225278"/>
          </a:xfrm>
          <a:prstGeom prst="rect">
            <a:avLst/>
          </a:prstGeom>
          <a:noFill/>
          <a:ln/>
        </p:spPr>
        <p:txBody>
          <a:bodyPr wrap="squar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Creational Design Patterns in Java: Building Objects the Right Way</a:t>
            </a:r>
            <a:endParaRPr lang="en-US" sz="4450" dirty="0"/>
          </a:p>
        </p:txBody>
      </p:sp>
      <p:sp>
        <p:nvSpPr>
          <p:cNvPr id="4" name="Text 1"/>
          <p:cNvSpPr/>
          <p:nvPr/>
        </p:nvSpPr>
        <p:spPr>
          <a:xfrm>
            <a:off x="6280190" y="4860250"/>
            <a:ext cx="7556421" cy="1032034"/>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Master the art of object creation with proven design patterns that solve common software engineering challenges. These patterns provide elegant, reusable solutions for instantiating objects in flexible and maintainable ways.</a:t>
            </a:r>
            <a:endParaRPr lang="en-US" sz="1550" dirty="0"/>
          </a:p>
        </p:txBody>
      </p:sp>
      <p:pic>
        <p:nvPicPr>
          <p:cNvPr id="6" name="Picture 5">
            <a:extLst>
              <a:ext uri="{FF2B5EF4-FFF2-40B4-BE49-F238E27FC236}">
                <a16:creationId xmlns:a16="http://schemas.microsoft.com/office/drawing/2014/main" id="{C7116BFD-16B0-FA1E-BA95-A846AF057B53}"/>
              </a:ext>
            </a:extLst>
          </p:cNvPr>
          <p:cNvPicPr>
            <a:picLocks noChangeAspect="1"/>
          </p:cNvPicPr>
          <p:nvPr/>
        </p:nvPicPr>
        <p:blipFill>
          <a:blip r:embed="rId4"/>
          <a:stretch>
            <a:fillRect/>
          </a:stretch>
        </p:blipFill>
        <p:spPr>
          <a:xfrm>
            <a:off x="12837334" y="7781097"/>
            <a:ext cx="1695687" cy="3524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C0EA31-BB30-5C5D-A684-B34AE6D5616B}"/>
              </a:ext>
            </a:extLst>
          </p:cNvPr>
          <p:cNvSpPr txBox="1"/>
          <p:nvPr/>
        </p:nvSpPr>
        <p:spPr>
          <a:xfrm>
            <a:off x="4763070" y="1522175"/>
            <a:ext cx="7315200" cy="144655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Google Sans"/>
              </a:rPr>
              <a:t>📄 Presentation Agenda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004DEB3-E9AD-7189-C86E-E2E26D4EFCC3}"/>
              </a:ext>
            </a:extLst>
          </p:cNvPr>
          <p:cNvSpPr txBox="1"/>
          <p:nvPr/>
        </p:nvSpPr>
        <p:spPr>
          <a:xfrm>
            <a:off x="3521123" y="2968725"/>
            <a:ext cx="9485194" cy="2677656"/>
          </a:xfrm>
          <a:prstGeom prst="rect">
            <a:avLst/>
          </a:prstGeom>
          <a:noFill/>
        </p:spPr>
        <p:txBody>
          <a:bodyPr wrap="square">
            <a:spAutoFit/>
          </a:bodyPr>
          <a:lstStyle/>
          <a:p>
            <a:pPr marL="400050" indent="-400050">
              <a:buAutoNum type="romanUcPeriod"/>
            </a:pPr>
            <a:r>
              <a:rPr lang="en-GB" sz="2400" b="1" dirty="0"/>
              <a:t>The Problem:</a:t>
            </a:r>
            <a:r>
              <a:rPr lang="en-GB" sz="2400" dirty="0"/>
              <a:t> Why is direct object creation (using </a:t>
            </a:r>
            <a:r>
              <a:rPr lang="en-GB" sz="2400" dirty="0">
                <a:latin typeface="Courier New" panose="02070309020205020404" pitchFamily="49" charset="0"/>
              </a:rPr>
              <a:t>new</a:t>
            </a:r>
            <a:r>
              <a:rPr lang="en-GB" sz="2400" dirty="0"/>
              <a:t>) restrictive? </a:t>
            </a:r>
          </a:p>
          <a:p>
            <a:pPr marL="400050" indent="-400050">
              <a:buAutoNum type="romanUcPeriod"/>
            </a:pPr>
            <a:endParaRPr lang="en-GB" sz="2400" dirty="0"/>
          </a:p>
          <a:p>
            <a:pPr marL="400050" indent="-400050">
              <a:buAutoNum type="romanUcPeriod"/>
            </a:pPr>
            <a:r>
              <a:rPr lang="en-GB" sz="2400" b="1" dirty="0"/>
              <a:t>The Five Patterns:</a:t>
            </a:r>
            <a:r>
              <a:rPr lang="en-GB" sz="2400" dirty="0"/>
              <a:t> Deep dive into Singleton, Factory Method, Abstract Factory, Builder, and Prototype. </a:t>
            </a:r>
          </a:p>
          <a:p>
            <a:pPr marL="400050" indent="-400050">
              <a:buAutoNum type="romanUcPeriod"/>
            </a:pPr>
            <a:endParaRPr lang="en-GB" sz="2400" dirty="0"/>
          </a:p>
          <a:p>
            <a:pPr marL="400050" indent="-400050">
              <a:buAutoNum type="romanUcPeriod"/>
            </a:pPr>
            <a:r>
              <a:rPr lang="en-GB" sz="2400" b="1" dirty="0"/>
              <a:t>The Application:</a:t>
            </a:r>
            <a:r>
              <a:rPr lang="en-GB" sz="2400" dirty="0"/>
              <a:t> Choosing the right pattern, best practices, and common pitfalls.</a:t>
            </a:r>
          </a:p>
        </p:txBody>
      </p:sp>
    </p:spTree>
    <p:extLst>
      <p:ext uri="{BB962C8B-B14F-4D97-AF65-F5344CB8AC3E}">
        <p14:creationId xmlns:p14="http://schemas.microsoft.com/office/powerpoint/2010/main" val="1901926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34691"/>
            <a:ext cx="13042821" cy="1483519"/>
          </a:xfrm>
          <a:prstGeom prst="rect">
            <a:avLst/>
          </a:prstGeom>
          <a:noFill/>
          <a:ln/>
        </p:spPr>
        <p:txBody>
          <a:bodyPr wrap="squar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What are Design Patterns and Why Creational Patterns Matter</a:t>
            </a:r>
            <a:endParaRPr lang="en-US" sz="4450" dirty="0"/>
          </a:p>
        </p:txBody>
      </p:sp>
      <p:sp>
        <p:nvSpPr>
          <p:cNvPr id="3" name="Text 1"/>
          <p:cNvSpPr/>
          <p:nvPr/>
        </p:nvSpPr>
        <p:spPr>
          <a:xfrm>
            <a:off x="793790" y="3314224"/>
            <a:ext cx="4744879" cy="445056"/>
          </a:xfrm>
          <a:prstGeom prst="rect">
            <a:avLst/>
          </a:prstGeom>
          <a:noFill/>
          <a:ln/>
        </p:spPr>
        <p:txBody>
          <a:bodyPr wrap="none" lIns="0" tIns="0" rIns="0" bIns="0" rtlCol="0" anchor="t"/>
          <a:lstStyle/>
          <a:p>
            <a:pPr marL="0" indent="0" algn="l">
              <a:lnSpc>
                <a:spcPts val="3500"/>
              </a:lnSpc>
              <a:buNone/>
            </a:pPr>
            <a:r>
              <a:rPr lang="en-US" sz="2650" dirty="0">
                <a:solidFill>
                  <a:srgbClr val="532418"/>
                </a:solidFill>
                <a:latin typeface="Marcellus" pitchFamily="34" charset="0"/>
                <a:ea typeface="Marcellus" pitchFamily="34" charset="-122"/>
                <a:cs typeface="Marcellus" pitchFamily="34" charset="-120"/>
              </a:rPr>
              <a:t>Understanding Design Patterns</a:t>
            </a:r>
            <a:endParaRPr lang="en-US" sz="2650" dirty="0"/>
          </a:p>
        </p:txBody>
      </p:sp>
      <p:sp>
        <p:nvSpPr>
          <p:cNvPr id="4" name="Text 2"/>
          <p:cNvSpPr/>
          <p:nvPr/>
        </p:nvSpPr>
        <p:spPr>
          <a:xfrm>
            <a:off x="793790" y="3957638"/>
            <a:ext cx="6279356" cy="1290042"/>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Design patterns are time-tested solutions to recurring problems in software design. They represent best practices evolved over decades of collective programming experience. Think of them as blueprints that you can customise to solve particular design problems in your code.</a:t>
            </a:r>
            <a:endParaRPr lang="en-US" sz="1550" dirty="0"/>
          </a:p>
        </p:txBody>
      </p:sp>
      <p:sp>
        <p:nvSpPr>
          <p:cNvPr id="5" name="Text 3"/>
          <p:cNvSpPr/>
          <p:nvPr/>
        </p:nvSpPr>
        <p:spPr>
          <a:xfrm>
            <a:off x="793790" y="5426273"/>
            <a:ext cx="6279356" cy="1290042"/>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These patterns aren't finished code snippets you can directly insert—they're templates for how to approach and solve problems in various contexts. They help developers communicate complex ideas quickly using a shared vocabulary.</a:t>
            </a:r>
            <a:endParaRPr lang="en-US" sz="1550" dirty="0"/>
          </a:p>
        </p:txBody>
      </p:sp>
      <p:sp>
        <p:nvSpPr>
          <p:cNvPr id="6" name="Text 4"/>
          <p:cNvSpPr/>
          <p:nvPr/>
        </p:nvSpPr>
        <p:spPr>
          <a:xfrm>
            <a:off x="7564874" y="3314224"/>
            <a:ext cx="5103376" cy="445056"/>
          </a:xfrm>
          <a:prstGeom prst="rect">
            <a:avLst/>
          </a:prstGeom>
          <a:noFill/>
          <a:ln/>
        </p:spPr>
        <p:txBody>
          <a:bodyPr wrap="none" lIns="0" tIns="0" rIns="0" bIns="0" rtlCol="0" anchor="t"/>
          <a:lstStyle/>
          <a:p>
            <a:pPr marL="0" indent="0" algn="l">
              <a:lnSpc>
                <a:spcPts val="3500"/>
              </a:lnSpc>
              <a:buNone/>
            </a:pPr>
            <a:r>
              <a:rPr lang="en-US" sz="2650" dirty="0">
                <a:solidFill>
                  <a:srgbClr val="532418"/>
                </a:solidFill>
                <a:latin typeface="Marcellus" pitchFamily="34" charset="0"/>
                <a:ea typeface="Marcellus" pitchFamily="34" charset="-122"/>
                <a:cs typeface="Marcellus" pitchFamily="34" charset="-120"/>
              </a:rPr>
              <a:t>The Power of Creational Patterns</a:t>
            </a:r>
            <a:endParaRPr lang="en-US" sz="2650" dirty="0"/>
          </a:p>
        </p:txBody>
      </p:sp>
      <p:sp>
        <p:nvSpPr>
          <p:cNvPr id="7" name="Text 5"/>
          <p:cNvSpPr/>
          <p:nvPr/>
        </p:nvSpPr>
        <p:spPr>
          <a:xfrm>
            <a:off x="7564874" y="3957638"/>
            <a:ext cx="6279356" cy="1290042"/>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Creational patterns specifically focus on object creation mechanisms, making your code more flexible and reusable. They abstract the instantiation process, making systems independent of how objects are created, composed, and represented.</a:t>
            </a:r>
            <a:endParaRPr lang="en-US" sz="1550" dirty="0"/>
          </a:p>
        </p:txBody>
      </p:sp>
      <p:sp>
        <p:nvSpPr>
          <p:cNvPr id="8" name="Text 6"/>
          <p:cNvSpPr/>
          <p:nvPr/>
        </p:nvSpPr>
        <p:spPr>
          <a:xfrm>
            <a:off x="7564874" y="5426273"/>
            <a:ext cx="6279356" cy="1032034"/>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By using creational patterns, you gain control over what gets created, who creates it, how it gets created, and when. This leads to more modular, testable, and maintainable code that can adapt to changing requirements without major rewrites.</a:t>
            </a:r>
            <a:endParaRPr lang="en-US" sz="1550" dirty="0"/>
          </a:p>
        </p:txBody>
      </p:sp>
      <p:pic>
        <p:nvPicPr>
          <p:cNvPr id="9" name="Picture 8">
            <a:extLst>
              <a:ext uri="{FF2B5EF4-FFF2-40B4-BE49-F238E27FC236}">
                <a16:creationId xmlns:a16="http://schemas.microsoft.com/office/drawing/2014/main" id="{7C09A4DD-2E1C-360C-AC64-C810D5AD0CB8}"/>
              </a:ext>
            </a:extLst>
          </p:cNvPr>
          <p:cNvPicPr>
            <a:picLocks noChangeAspect="1"/>
          </p:cNvPicPr>
          <p:nvPr/>
        </p:nvPicPr>
        <p:blipFill>
          <a:blip r:embed="rId3"/>
          <a:stretch>
            <a:fillRect/>
          </a:stretch>
        </p:blipFill>
        <p:spPr>
          <a:xfrm>
            <a:off x="12837334" y="7781097"/>
            <a:ext cx="1695687" cy="3524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A53487-BE79-1B65-1513-44FE8F7888B4}"/>
              </a:ext>
            </a:extLst>
          </p:cNvPr>
          <p:cNvSpPr txBox="1"/>
          <p:nvPr/>
        </p:nvSpPr>
        <p:spPr>
          <a:xfrm>
            <a:off x="5131558" y="859387"/>
            <a:ext cx="7315200" cy="646331"/>
          </a:xfrm>
          <a:prstGeom prst="rect">
            <a:avLst/>
          </a:prstGeom>
          <a:noFill/>
        </p:spPr>
        <p:txBody>
          <a:bodyPr wrap="square">
            <a:spAutoFit/>
          </a:bodyPr>
          <a:lstStyle/>
          <a:p>
            <a:r>
              <a:rPr lang="en-GB" dirty="0"/>
              <a:t>The </a:t>
            </a:r>
            <a:r>
              <a:rPr lang="en-GB" dirty="0" err="1"/>
              <a:t>Problem:Tight</a:t>
            </a:r>
            <a:r>
              <a:rPr lang="en-GB" dirty="0"/>
              <a:t> Coupling</a:t>
            </a:r>
          </a:p>
          <a:p>
            <a:endParaRPr lang="en-GB" dirty="0"/>
          </a:p>
        </p:txBody>
      </p:sp>
      <p:sp>
        <p:nvSpPr>
          <p:cNvPr id="5" name="TextBox 4">
            <a:extLst>
              <a:ext uri="{FF2B5EF4-FFF2-40B4-BE49-F238E27FC236}">
                <a16:creationId xmlns:a16="http://schemas.microsoft.com/office/drawing/2014/main" id="{19F8AAD9-0DB0-D431-D594-C82C5AA1EFCB}"/>
              </a:ext>
            </a:extLst>
          </p:cNvPr>
          <p:cNvSpPr txBox="1"/>
          <p:nvPr/>
        </p:nvSpPr>
        <p:spPr>
          <a:xfrm>
            <a:off x="1351127" y="1405131"/>
            <a:ext cx="12269338" cy="1200329"/>
          </a:xfrm>
          <a:prstGeom prst="rect">
            <a:avLst/>
          </a:prstGeom>
          <a:noFill/>
        </p:spPr>
        <p:txBody>
          <a:bodyPr wrap="square">
            <a:spAutoFit/>
          </a:bodyPr>
          <a:lstStyle/>
          <a:p>
            <a:r>
              <a:rPr lang="en-GB" dirty="0"/>
              <a:t>Direct use of </a:t>
            </a:r>
            <a:r>
              <a:rPr lang="en-GB" dirty="0">
                <a:latin typeface="Courier New" panose="02070309020205020404" pitchFamily="49" charset="0"/>
              </a:rPr>
              <a:t>new</a:t>
            </a:r>
            <a:r>
              <a:rPr lang="en-GB" dirty="0"/>
              <a:t> creates </a:t>
            </a:r>
            <a:r>
              <a:rPr lang="en-GB" b="1" dirty="0"/>
              <a:t>tight coupling</a:t>
            </a:r>
            <a:r>
              <a:rPr lang="en-GB" dirty="0"/>
              <a:t> between client code and a </a:t>
            </a:r>
            <a:r>
              <a:rPr lang="en-GB" b="1" dirty="0"/>
              <a:t>concrete class</a:t>
            </a:r>
            <a:r>
              <a:rPr lang="en-GB" dirty="0"/>
              <a:t>. This makes the code </a:t>
            </a:r>
            <a:r>
              <a:rPr lang="en-GB" b="1" dirty="0"/>
              <a:t>rigid</a:t>
            </a:r>
            <a:r>
              <a:rPr lang="en-GB" dirty="0"/>
              <a:t> and difficult to modify when requirements change (e.g., switching database types). It severely impacts </a:t>
            </a:r>
            <a:r>
              <a:rPr lang="en-GB" b="1" dirty="0"/>
              <a:t>testability</a:t>
            </a:r>
            <a:r>
              <a:rPr lang="en-GB" dirty="0"/>
              <a:t> because it’s hard to swap a real dependency (like a file system) for a mock object during a unit test. </a:t>
            </a:r>
          </a:p>
          <a:p>
            <a:endParaRPr lang="en-GB" dirty="0"/>
          </a:p>
        </p:txBody>
      </p:sp>
      <p:sp>
        <p:nvSpPr>
          <p:cNvPr id="8" name="TextBox 7">
            <a:extLst>
              <a:ext uri="{FF2B5EF4-FFF2-40B4-BE49-F238E27FC236}">
                <a16:creationId xmlns:a16="http://schemas.microsoft.com/office/drawing/2014/main" id="{F42515E4-30AD-2B45-E62C-1155F2542683}"/>
              </a:ext>
            </a:extLst>
          </p:cNvPr>
          <p:cNvSpPr txBox="1"/>
          <p:nvPr/>
        </p:nvSpPr>
        <p:spPr>
          <a:xfrm>
            <a:off x="1207289" y="4114800"/>
            <a:ext cx="6806554" cy="2585323"/>
          </a:xfrm>
          <a:prstGeom prst="rect">
            <a:avLst/>
          </a:prstGeom>
          <a:noFill/>
        </p:spPr>
        <p:txBody>
          <a:bodyPr wrap="square">
            <a:spAutoFit/>
          </a:bodyPr>
          <a:lstStyle/>
          <a:p>
            <a:r>
              <a:rPr lang="en-GB" b="1" dirty="0"/>
              <a:t>The Issue:</a:t>
            </a:r>
            <a:r>
              <a:rPr lang="en-GB" dirty="0"/>
              <a:t> The </a:t>
            </a:r>
            <a:r>
              <a:rPr lang="en-GB" dirty="0" err="1"/>
              <a:t>DataService</a:t>
            </a:r>
            <a:r>
              <a:rPr lang="en-GB" dirty="0"/>
              <a:t> is directly dependent on the </a:t>
            </a:r>
            <a:r>
              <a:rPr lang="en-GB" b="1" dirty="0"/>
              <a:t>concrete class</a:t>
            </a:r>
            <a:r>
              <a:rPr lang="en-GB" dirty="0"/>
              <a:t> </a:t>
            </a:r>
            <a:r>
              <a:rPr lang="en-GB" dirty="0" err="1"/>
              <a:t>MySQLConnector</a:t>
            </a:r>
            <a:r>
              <a:rPr lang="en-GB" dirty="0"/>
              <a:t>. The new keyword is the source of this tight coupling. </a:t>
            </a:r>
          </a:p>
          <a:p>
            <a:endParaRPr lang="en-GB" b="1" dirty="0"/>
          </a:p>
          <a:p>
            <a:r>
              <a:rPr lang="en-GB" b="1" dirty="0"/>
              <a:t>Consequence:</a:t>
            </a:r>
            <a:r>
              <a:rPr lang="en-GB" dirty="0"/>
              <a:t> If you decide to switch the database (e.g., to </a:t>
            </a:r>
            <a:r>
              <a:rPr lang="en-GB" dirty="0" err="1"/>
              <a:t>PostgreSQLConnector</a:t>
            </a:r>
            <a:r>
              <a:rPr lang="en-GB" dirty="0"/>
              <a:t>), you </a:t>
            </a:r>
            <a:r>
              <a:rPr lang="en-GB" b="1" dirty="0"/>
              <a:t>MUST modify</a:t>
            </a:r>
            <a:r>
              <a:rPr lang="en-GB" dirty="0"/>
              <a:t> the source code of the </a:t>
            </a:r>
            <a:r>
              <a:rPr lang="en-GB" dirty="0" err="1"/>
              <a:t>DataService</a:t>
            </a:r>
            <a:r>
              <a:rPr lang="en-GB" dirty="0"/>
              <a:t> class.</a:t>
            </a:r>
          </a:p>
          <a:p>
            <a:endParaRPr lang="en-GB" dirty="0"/>
          </a:p>
          <a:p>
            <a:r>
              <a:rPr lang="en-GB" dirty="0"/>
              <a:t> </a:t>
            </a:r>
            <a:r>
              <a:rPr lang="en-GB" b="1" dirty="0"/>
              <a:t>Violation:</a:t>
            </a:r>
            <a:r>
              <a:rPr lang="en-GB" dirty="0"/>
              <a:t> This violates the </a:t>
            </a:r>
            <a:r>
              <a:rPr lang="en-GB" b="1" dirty="0"/>
              <a:t>Open/Closed Principle</a:t>
            </a:r>
            <a:r>
              <a:rPr lang="en-GB" dirty="0"/>
              <a:t> (software entities should be open for extension but closed for modification).</a:t>
            </a:r>
          </a:p>
        </p:txBody>
      </p:sp>
      <p:sp>
        <p:nvSpPr>
          <p:cNvPr id="12" name="TextBox 11">
            <a:extLst>
              <a:ext uri="{FF2B5EF4-FFF2-40B4-BE49-F238E27FC236}">
                <a16:creationId xmlns:a16="http://schemas.microsoft.com/office/drawing/2014/main" id="{14272135-B4CA-E29E-EE4F-702ECE90083F}"/>
              </a:ext>
            </a:extLst>
          </p:cNvPr>
          <p:cNvSpPr txBox="1"/>
          <p:nvPr/>
        </p:nvSpPr>
        <p:spPr>
          <a:xfrm>
            <a:off x="8527551" y="4114799"/>
            <a:ext cx="5938462" cy="2862322"/>
          </a:xfrm>
          <a:prstGeom prst="rect">
            <a:avLst/>
          </a:prstGeom>
          <a:noFill/>
        </p:spPr>
        <p:txBody>
          <a:bodyPr wrap="square">
            <a:spAutoFit/>
          </a:bodyPr>
          <a:lstStyle/>
          <a:p>
            <a:r>
              <a:rPr lang="en-GB" dirty="0"/>
              <a:t>// Tightly Coupled Client Code </a:t>
            </a:r>
          </a:p>
          <a:p>
            <a:endParaRPr lang="en-GB" dirty="0"/>
          </a:p>
          <a:p>
            <a:r>
              <a:rPr lang="en-GB" dirty="0"/>
              <a:t>public class </a:t>
            </a:r>
            <a:r>
              <a:rPr lang="en-GB" dirty="0" err="1"/>
              <a:t>DataService</a:t>
            </a:r>
            <a:r>
              <a:rPr lang="en-GB" dirty="0"/>
              <a:t> { </a:t>
            </a:r>
          </a:p>
          <a:p>
            <a:r>
              <a:rPr lang="en-GB" dirty="0"/>
              <a:t>                 // Hard-coded dependency on a concrete class                   	private </a:t>
            </a:r>
            <a:r>
              <a:rPr lang="en-GB" dirty="0" err="1"/>
              <a:t>MySQLConnector</a:t>
            </a:r>
            <a:r>
              <a:rPr lang="en-GB" dirty="0"/>
              <a:t> connector = new    	</a:t>
            </a:r>
            <a:r>
              <a:rPr lang="en-GB" dirty="0" err="1"/>
              <a:t>MySQLConnector</a:t>
            </a:r>
            <a:r>
              <a:rPr lang="en-GB" dirty="0"/>
              <a:t>(); </a:t>
            </a:r>
          </a:p>
          <a:p>
            <a:r>
              <a:rPr lang="en-GB" dirty="0"/>
              <a:t>	public void connect() { </a:t>
            </a:r>
          </a:p>
          <a:p>
            <a:r>
              <a:rPr lang="en-GB" dirty="0"/>
              <a:t>	         </a:t>
            </a:r>
            <a:r>
              <a:rPr lang="en-GB" dirty="0" err="1"/>
              <a:t>connector.open</a:t>
            </a:r>
            <a:r>
              <a:rPr lang="en-GB" dirty="0"/>
              <a:t>();</a:t>
            </a:r>
          </a:p>
          <a:p>
            <a:r>
              <a:rPr lang="en-GB" dirty="0"/>
              <a:t>                  }</a:t>
            </a:r>
          </a:p>
          <a:p>
            <a:r>
              <a:rPr lang="en-GB" dirty="0"/>
              <a:t> }</a:t>
            </a:r>
          </a:p>
        </p:txBody>
      </p:sp>
    </p:spTree>
    <p:extLst>
      <p:ext uri="{BB962C8B-B14F-4D97-AF65-F5344CB8AC3E}">
        <p14:creationId xmlns:p14="http://schemas.microsoft.com/office/powerpoint/2010/main" val="163806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4008DB-6621-7BC7-D0A0-18A8AC1E87FA}"/>
              </a:ext>
            </a:extLst>
          </p:cNvPr>
          <p:cNvSpPr txBox="1"/>
          <p:nvPr/>
        </p:nvSpPr>
        <p:spPr>
          <a:xfrm>
            <a:off x="4981125" y="397573"/>
            <a:ext cx="7315200" cy="646331"/>
          </a:xfrm>
          <a:prstGeom prst="rect">
            <a:avLst/>
          </a:prstGeom>
          <a:noFill/>
        </p:spPr>
        <p:txBody>
          <a:bodyPr wrap="square">
            <a:spAutoFit/>
          </a:bodyPr>
          <a:lstStyle/>
          <a:p>
            <a:r>
              <a:rPr lang="en-GB" dirty="0"/>
              <a:t>The </a:t>
            </a:r>
            <a:r>
              <a:rPr lang="en-GB" dirty="0" err="1"/>
              <a:t>Solution:Decoupling</a:t>
            </a:r>
            <a:r>
              <a:rPr lang="en-GB" dirty="0"/>
              <a:t> with an Interface</a:t>
            </a:r>
          </a:p>
          <a:p>
            <a:endParaRPr lang="en-GB" dirty="0"/>
          </a:p>
        </p:txBody>
      </p:sp>
      <p:sp>
        <p:nvSpPr>
          <p:cNvPr id="7" name="TextBox 6">
            <a:extLst>
              <a:ext uri="{FF2B5EF4-FFF2-40B4-BE49-F238E27FC236}">
                <a16:creationId xmlns:a16="http://schemas.microsoft.com/office/drawing/2014/main" id="{9439BFA7-08DE-ACB2-68E6-640A6978E97B}"/>
              </a:ext>
            </a:extLst>
          </p:cNvPr>
          <p:cNvSpPr txBox="1"/>
          <p:nvPr/>
        </p:nvSpPr>
        <p:spPr>
          <a:xfrm>
            <a:off x="1022200" y="965757"/>
            <a:ext cx="13115039" cy="1754326"/>
          </a:xfrm>
          <a:prstGeom prst="rect">
            <a:avLst/>
          </a:prstGeom>
          <a:noFill/>
        </p:spPr>
        <p:txBody>
          <a:bodyPr wrap="square">
            <a:spAutoFit/>
          </a:bodyPr>
          <a:lstStyle/>
          <a:p>
            <a:endParaRPr lang="en-GB" dirty="0"/>
          </a:p>
          <a:p>
            <a:r>
              <a:rPr lang="en-GB" b="1" dirty="0"/>
              <a:t>The Fix:</a:t>
            </a:r>
            <a:r>
              <a:rPr lang="en-GB" dirty="0"/>
              <a:t> Introduce an </a:t>
            </a:r>
            <a:r>
              <a:rPr lang="en-GB" b="1" dirty="0"/>
              <a:t>Interface</a:t>
            </a:r>
            <a:r>
              <a:rPr lang="en-GB" dirty="0"/>
              <a:t> (</a:t>
            </a:r>
            <a:r>
              <a:rPr lang="en-GB" dirty="0" err="1"/>
              <a:t>DatabaseConnector</a:t>
            </a:r>
            <a:r>
              <a:rPr lang="en-GB" dirty="0"/>
              <a:t>) and code against it. We pass the dependency in (often via the constructor—called </a:t>
            </a:r>
            <a:r>
              <a:rPr lang="en-GB" b="1" dirty="0"/>
              <a:t>Dependency Injection</a:t>
            </a:r>
            <a:r>
              <a:rPr lang="en-GB" dirty="0"/>
              <a:t>). </a:t>
            </a:r>
          </a:p>
          <a:p>
            <a:r>
              <a:rPr lang="en-GB" b="1" dirty="0"/>
              <a:t>Benefit:</a:t>
            </a:r>
            <a:r>
              <a:rPr lang="en-GB" dirty="0"/>
              <a:t> The </a:t>
            </a:r>
            <a:r>
              <a:rPr lang="en-GB" dirty="0" err="1"/>
              <a:t>DataService</a:t>
            </a:r>
            <a:r>
              <a:rPr lang="en-GB" dirty="0"/>
              <a:t> now works with </a:t>
            </a:r>
            <a:r>
              <a:rPr lang="en-GB" b="1" dirty="0"/>
              <a:t>any</a:t>
            </a:r>
            <a:r>
              <a:rPr lang="en-GB" dirty="0"/>
              <a:t> class that implements </a:t>
            </a:r>
            <a:r>
              <a:rPr lang="en-GB" dirty="0" err="1"/>
              <a:t>DatabaseConnector</a:t>
            </a:r>
            <a:r>
              <a:rPr lang="en-GB" dirty="0"/>
              <a:t>. </a:t>
            </a:r>
            <a:endParaRPr lang="en-GB" b="1" dirty="0"/>
          </a:p>
          <a:p>
            <a:r>
              <a:rPr lang="en-GB" b="1" dirty="0"/>
              <a:t>Result:</a:t>
            </a:r>
            <a:r>
              <a:rPr lang="en-GB" dirty="0"/>
              <a:t> You can switch the underlying database implementation (MySQL, PostgreSQL, or a </a:t>
            </a:r>
            <a:r>
              <a:rPr lang="en-GB" dirty="0" err="1"/>
              <a:t>MockDB</a:t>
            </a:r>
            <a:r>
              <a:rPr lang="en-GB" dirty="0"/>
              <a:t>) without ever touching the </a:t>
            </a:r>
            <a:r>
              <a:rPr lang="en-GB" dirty="0" err="1"/>
              <a:t>DataService</a:t>
            </a:r>
            <a:r>
              <a:rPr lang="en-GB" dirty="0"/>
              <a:t> source code again.</a:t>
            </a:r>
          </a:p>
        </p:txBody>
      </p:sp>
      <p:sp>
        <p:nvSpPr>
          <p:cNvPr id="9" name="TextBox 8">
            <a:extLst>
              <a:ext uri="{FF2B5EF4-FFF2-40B4-BE49-F238E27FC236}">
                <a16:creationId xmlns:a16="http://schemas.microsoft.com/office/drawing/2014/main" id="{D0DF171A-2635-57D9-F8FB-E11512BA74D9}"/>
              </a:ext>
            </a:extLst>
          </p:cNvPr>
          <p:cNvSpPr txBox="1"/>
          <p:nvPr/>
        </p:nvSpPr>
        <p:spPr>
          <a:xfrm>
            <a:off x="940007" y="3150076"/>
            <a:ext cx="5977719" cy="4247317"/>
          </a:xfrm>
          <a:prstGeom prst="rect">
            <a:avLst/>
          </a:prstGeom>
          <a:noFill/>
        </p:spPr>
        <p:txBody>
          <a:bodyPr wrap="square">
            <a:spAutoFit/>
          </a:bodyPr>
          <a:lstStyle/>
          <a:p>
            <a:r>
              <a:rPr lang="en-GB" dirty="0"/>
              <a:t>// 1. Create an interface </a:t>
            </a:r>
          </a:p>
          <a:p>
            <a:r>
              <a:rPr lang="en-GB" dirty="0"/>
              <a:t>public interface </a:t>
            </a:r>
            <a:r>
              <a:rPr lang="en-GB" dirty="0" err="1"/>
              <a:t>DatabaseConnector</a:t>
            </a:r>
            <a:r>
              <a:rPr lang="en-GB" dirty="0"/>
              <a:t> {</a:t>
            </a:r>
          </a:p>
          <a:p>
            <a:r>
              <a:rPr lang="en-GB" dirty="0"/>
              <a:t>       void open(); </a:t>
            </a:r>
          </a:p>
          <a:p>
            <a:r>
              <a:rPr lang="en-GB" dirty="0"/>
              <a:t>}</a:t>
            </a:r>
          </a:p>
          <a:p>
            <a:r>
              <a:rPr lang="en-GB" dirty="0"/>
              <a:t> // 2. Client uses the interface </a:t>
            </a:r>
          </a:p>
          <a:p>
            <a:r>
              <a:rPr lang="en-GB" dirty="0"/>
              <a:t>public class </a:t>
            </a:r>
            <a:r>
              <a:rPr lang="en-GB" dirty="0" err="1"/>
              <a:t>DataService</a:t>
            </a:r>
            <a:r>
              <a:rPr lang="en-GB" dirty="0"/>
              <a:t> { </a:t>
            </a:r>
          </a:p>
          <a:p>
            <a:r>
              <a:rPr lang="en-GB" dirty="0"/>
              <a:t>       private </a:t>
            </a:r>
            <a:r>
              <a:rPr lang="en-GB" dirty="0" err="1"/>
              <a:t>DatabaseConnector</a:t>
            </a:r>
            <a:r>
              <a:rPr lang="en-GB" dirty="0"/>
              <a:t> connector; </a:t>
            </a:r>
          </a:p>
          <a:p>
            <a:r>
              <a:rPr lang="en-GB" dirty="0"/>
              <a:t>       // Dependency is injected via constructor </a:t>
            </a:r>
          </a:p>
          <a:p>
            <a:r>
              <a:rPr lang="en-GB" dirty="0"/>
              <a:t>       public </a:t>
            </a:r>
            <a:r>
              <a:rPr lang="en-GB" dirty="0" err="1"/>
              <a:t>DataService</a:t>
            </a:r>
            <a:r>
              <a:rPr lang="en-GB" dirty="0"/>
              <a:t>(</a:t>
            </a:r>
            <a:r>
              <a:rPr lang="en-GB" dirty="0" err="1"/>
              <a:t>DatabaseConnector</a:t>
            </a:r>
            <a:r>
              <a:rPr lang="en-GB" dirty="0"/>
              <a:t> connector) {  	</a:t>
            </a:r>
            <a:r>
              <a:rPr lang="en-GB" dirty="0" err="1"/>
              <a:t>this.connector</a:t>
            </a:r>
            <a:r>
              <a:rPr lang="en-GB" dirty="0"/>
              <a:t> = connector; </a:t>
            </a:r>
          </a:p>
          <a:p>
            <a:r>
              <a:rPr lang="en-GB" dirty="0"/>
              <a:t>        }</a:t>
            </a:r>
          </a:p>
          <a:p>
            <a:r>
              <a:rPr lang="en-GB" dirty="0"/>
              <a:t>       public void connect() { </a:t>
            </a:r>
          </a:p>
          <a:p>
            <a:r>
              <a:rPr lang="en-GB" dirty="0"/>
              <a:t>                  </a:t>
            </a:r>
            <a:r>
              <a:rPr lang="en-GB" dirty="0" err="1"/>
              <a:t>connector.open</a:t>
            </a:r>
            <a:r>
              <a:rPr lang="en-GB" dirty="0"/>
              <a:t>();   // Decoupled! </a:t>
            </a:r>
          </a:p>
          <a:p>
            <a:r>
              <a:rPr lang="en-GB" dirty="0"/>
              <a:t>        }</a:t>
            </a:r>
          </a:p>
          <a:p>
            <a:r>
              <a:rPr lang="en-GB" dirty="0"/>
              <a:t> } </a:t>
            </a:r>
          </a:p>
        </p:txBody>
      </p:sp>
    </p:spTree>
    <p:extLst>
      <p:ext uri="{BB962C8B-B14F-4D97-AF65-F5344CB8AC3E}">
        <p14:creationId xmlns:p14="http://schemas.microsoft.com/office/powerpoint/2010/main" val="265568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7204" y="569119"/>
            <a:ext cx="11837075" cy="455295"/>
          </a:xfrm>
          <a:prstGeom prst="rect">
            <a:avLst/>
          </a:prstGeom>
          <a:noFill/>
          <a:ln/>
        </p:spPr>
        <p:txBody>
          <a:bodyPr wrap="none" lIns="0" tIns="0" rIns="0" bIns="0" rtlCol="0" anchor="t"/>
          <a:lstStyle/>
          <a:p>
            <a:pPr marL="0" indent="0" algn="l">
              <a:lnSpc>
                <a:spcPts val="3550"/>
              </a:lnSpc>
              <a:buNone/>
            </a:pPr>
            <a:r>
              <a:rPr lang="en-US" sz="2750" dirty="0">
                <a:solidFill>
                  <a:srgbClr val="532418"/>
                </a:solidFill>
                <a:latin typeface="Marcellus" pitchFamily="34" charset="0"/>
                <a:ea typeface="Marcellus" pitchFamily="34" charset="-122"/>
                <a:cs typeface="Marcellus" pitchFamily="34" charset="-120"/>
              </a:rPr>
              <a:t>Singleton Pattern: Ensuring One Instance with Real-World Banking Example</a:t>
            </a:r>
            <a:endParaRPr lang="en-US" sz="2750" dirty="0"/>
          </a:p>
        </p:txBody>
      </p:sp>
      <p:sp>
        <p:nvSpPr>
          <p:cNvPr id="3" name="Shape 1"/>
          <p:cNvSpPr/>
          <p:nvPr/>
        </p:nvSpPr>
        <p:spPr>
          <a:xfrm>
            <a:off x="487204" y="1268016"/>
            <a:ext cx="4470797" cy="1320284"/>
          </a:xfrm>
          <a:prstGeom prst="roundRect">
            <a:avLst>
              <a:gd name="adj" fmla="val 3875"/>
            </a:avLst>
          </a:prstGeom>
          <a:solidFill>
            <a:srgbClr val="FFFFF4"/>
          </a:solidFill>
          <a:ln w="7620">
            <a:solidFill>
              <a:srgbClr val="FFE0CC"/>
            </a:solidFill>
            <a:prstDash val="solid"/>
          </a:ln>
        </p:spPr>
        <p:txBody>
          <a:bodyPr/>
          <a:lstStyle/>
          <a:p>
            <a:endParaRPr lang="en-GB"/>
          </a:p>
        </p:txBody>
      </p:sp>
      <p:sp>
        <p:nvSpPr>
          <p:cNvPr id="4" name="Text 2"/>
          <p:cNvSpPr/>
          <p:nvPr/>
        </p:nvSpPr>
        <p:spPr>
          <a:xfrm>
            <a:off x="616625" y="1397437"/>
            <a:ext cx="1751052" cy="227648"/>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arcellus" pitchFamily="34" charset="0"/>
                <a:ea typeface="Marcellus" pitchFamily="34" charset="-122"/>
                <a:cs typeface="Marcellus" pitchFamily="34" charset="-120"/>
              </a:rPr>
              <a:t>The Problem</a:t>
            </a:r>
            <a:endParaRPr lang="en-US" sz="1350" dirty="0"/>
          </a:p>
        </p:txBody>
      </p:sp>
      <p:sp>
        <p:nvSpPr>
          <p:cNvPr id="5" name="Text 3"/>
          <p:cNvSpPr/>
          <p:nvPr/>
        </p:nvSpPr>
        <p:spPr>
          <a:xfrm>
            <a:off x="616625" y="1698069"/>
            <a:ext cx="4211955" cy="474702"/>
          </a:xfrm>
          <a:prstGeom prst="rect">
            <a:avLst/>
          </a:prstGeom>
          <a:noFill/>
          <a:ln/>
        </p:spPr>
        <p:txBody>
          <a:bodyPr wrap="square" lIns="0" tIns="0" rIns="0" bIns="0" rtlCol="0" anchor="t"/>
          <a:lstStyle/>
          <a:p>
            <a:pPr marL="0" indent="0" algn="l">
              <a:lnSpc>
                <a:spcPts val="1200"/>
              </a:lnSpc>
              <a:buNone/>
            </a:pPr>
            <a:r>
              <a:rPr lang="en-US" sz="950" dirty="0">
                <a:solidFill>
                  <a:srgbClr val="67534F"/>
                </a:solidFill>
                <a:latin typeface="Montserrat" pitchFamily="34" charset="0"/>
                <a:ea typeface="Montserrat" pitchFamily="34" charset="-122"/>
                <a:cs typeface="Montserrat" pitchFamily="34" charset="-120"/>
              </a:rPr>
              <a:t>Some classes should have exactly one instance—like a database connection pool or configuration manager. Multiple instances could cause conflicts, waste resources, or create inconsistent state.</a:t>
            </a:r>
            <a:endParaRPr lang="en-US" sz="950" dirty="0"/>
          </a:p>
        </p:txBody>
      </p:sp>
      <p:sp>
        <p:nvSpPr>
          <p:cNvPr id="6" name="Shape 4"/>
          <p:cNvSpPr/>
          <p:nvPr/>
        </p:nvSpPr>
        <p:spPr>
          <a:xfrm>
            <a:off x="5079802" y="1268016"/>
            <a:ext cx="4470797" cy="1320284"/>
          </a:xfrm>
          <a:prstGeom prst="roundRect">
            <a:avLst>
              <a:gd name="adj" fmla="val 3875"/>
            </a:avLst>
          </a:prstGeom>
          <a:solidFill>
            <a:srgbClr val="FFFFF4"/>
          </a:solidFill>
          <a:ln w="7620">
            <a:solidFill>
              <a:srgbClr val="FFE0CC"/>
            </a:solidFill>
            <a:prstDash val="solid"/>
          </a:ln>
        </p:spPr>
        <p:txBody>
          <a:bodyPr/>
          <a:lstStyle/>
          <a:p>
            <a:endParaRPr lang="en-GB"/>
          </a:p>
        </p:txBody>
      </p:sp>
      <p:sp>
        <p:nvSpPr>
          <p:cNvPr id="7" name="Text 5"/>
          <p:cNvSpPr/>
          <p:nvPr/>
        </p:nvSpPr>
        <p:spPr>
          <a:xfrm>
            <a:off x="5209223" y="1397437"/>
            <a:ext cx="1751052" cy="227648"/>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arcellus" pitchFamily="34" charset="0"/>
                <a:ea typeface="Marcellus" pitchFamily="34" charset="-122"/>
                <a:cs typeface="Marcellus" pitchFamily="34" charset="-120"/>
              </a:rPr>
              <a:t>The Solution</a:t>
            </a:r>
            <a:endParaRPr lang="en-US" sz="1350" dirty="0"/>
          </a:p>
        </p:txBody>
      </p:sp>
      <p:sp>
        <p:nvSpPr>
          <p:cNvPr id="8" name="Text 6"/>
          <p:cNvSpPr/>
          <p:nvPr/>
        </p:nvSpPr>
        <p:spPr>
          <a:xfrm>
            <a:off x="5209223" y="1698069"/>
            <a:ext cx="4211955" cy="474702"/>
          </a:xfrm>
          <a:prstGeom prst="rect">
            <a:avLst/>
          </a:prstGeom>
          <a:noFill/>
          <a:ln/>
        </p:spPr>
        <p:txBody>
          <a:bodyPr wrap="square" lIns="0" tIns="0" rIns="0" bIns="0" rtlCol="0" anchor="t"/>
          <a:lstStyle/>
          <a:p>
            <a:pPr marL="0" indent="0" algn="l">
              <a:lnSpc>
                <a:spcPts val="1200"/>
              </a:lnSpc>
              <a:buNone/>
            </a:pPr>
            <a:r>
              <a:rPr lang="en-US" sz="950" dirty="0">
                <a:solidFill>
                  <a:srgbClr val="67534F"/>
                </a:solidFill>
                <a:latin typeface="Montserrat" pitchFamily="34" charset="0"/>
                <a:ea typeface="Montserrat" pitchFamily="34" charset="-122"/>
                <a:cs typeface="Montserrat" pitchFamily="34" charset="-120"/>
              </a:rPr>
              <a:t>Singleton ensures a class has only one instance and provides a global access point to it. It controls instantiation by keeping the constructor private and providing a static method to access the instance.</a:t>
            </a:r>
            <a:endParaRPr lang="en-US" sz="950" dirty="0"/>
          </a:p>
        </p:txBody>
      </p:sp>
      <p:sp>
        <p:nvSpPr>
          <p:cNvPr id="9" name="Shape 7"/>
          <p:cNvSpPr/>
          <p:nvPr/>
        </p:nvSpPr>
        <p:spPr>
          <a:xfrm>
            <a:off x="9672399" y="1268016"/>
            <a:ext cx="4470797" cy="1320284"/>
          </a:xfrm>
          <a:prstGeom prst="roundRect">
            <a:avLst>
              <a:gd name="adj" fmla="val 3875"/>
            </a:avLst>
          </a:prstGeom>
          <a:solidFill>
            <a:srgbClr val="FFFFF4"/>
          </a:solidFill>
          <a:ln w="7620">
            <a:solidFill>
              <a:srgbClr val="FFE0CC"/>
            </a:solidFill>
            <a:prstDash val="solid"/>
          </a:ln>
        </p:spPr>
        <p:txBody>
          <a:bodyPr/>
          <a:lstStyle/>
          <a:p>
            <a:endParaRPr lang="en-GB"/>
          </a:p>
        </p:txBody>
      </p:sp>
      <p:sp>
        <p:nvSpPr>
          <p:cNvPr id="10" name="Text 8"/>
          <p:cNvSpPr/>
          <p:nvPr/>
        </p:nvSpPr>
        <p:spPr>
          <a:xfrm>
            <a:off x="9801820" y="1397437"/>
            <a:ext cx="1751052" cy="227648"/>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arcellus" pitchFamily="34" charset="0"/>
                <a:ea typeface="Marcellus" pitchFamily="34" charset="-122"/>
                <a:cs typeface="Marcellus" pitchFamily="34" charset="-120"/>
              </a:rPr>
              <a:t>Key Benefits</a:t>
            </a:r>
            <a:endParaRPr lang="en-US" sz="1350" dirty="0"/>
          </a:p>
        </p:txBody>
      </p:sp>
      <p:sp>
        <p:nvSpPr>
          <p:cNvPr id="11" name="Text 9"/>
          <p:cNvSpPr/>
          <p:nvPr/>
        </p:nvSpPr>
        <p:spPr>
          <a:xfrm>
            <a:off x="9801820" y="1698069"/>
            <a:ext cx="4211955" cy="158234"/>
          </a:xfrm>
          <a:prstGeom prst="rect">
            <a:avLst/>
          </a:prstGeom>
          <a:noFill/>
          <a:ln/>
        </p:spPr>
        <p:txBody>
          <a:bodyPr wrap="none" lIns="0" tIns="0" rIns="0" bIns="0" rtlCol="0" anchor="t"/>
          <a:lstStyle/>
          <a:p>
            <a:pPr marL="342900" indent="-342900" algn="l">
              <a:lnSpc>
                <a:spcPts val="1200"/>
              </a:lnSpc>
              <a:buSzPct val="100000"/>
              <a:buChar char="•"/>
            </a:pPr>
            <a:r>
              <a:rPr lang="en-US" sz="950" dirty="0">
                <a:solidFill>
                  <a:srgbClr val="67534F"/>
                </a:solidFill>
                <a:latin typeface="Montserrat" pitchFamily="34" charset="0"/>
                <a:ea typeface="Montserrat" pitchFamily="34" charset="-122"/>
                <a:cs typeface="Montserrat" pitchFamily="34" charset="-120"/>
              </a:rPr>
              <a:t>Controlled access to sole instance</a:t>
            </a:r>
            <a:endParaRPr lang="en-US" sz="950" dirty="0"/>
          </a:p>
        </p:txBody>
      </p:sp>
      <p:sp>
        <p:nvSpPr>
          <p:cNvPr id="12" name="Text 10"/>
          <p:cNvSpPr/>
          <p:nvPr/>
        </p:nvSpPr>
        <p:spPr>
          <a:xfrm>
            <a:off x="9801820" y="1898928"/>
            <a:ext cx="4211955" cy="158234"/>
          </a:xfrm>
          <a:prstGeom prst="rect">
            <a:avLst/>
          </a:prstGeom>
          <a:noFill/>
          <a:ln/>
        </p:spPr>
        <p:txBody>
          <a:bodyPr wrap="none" lIns="0" tIns="0" rIns="0" bIns="0" rtlCol="0" anchor="t"/>
          <a:lstStyle/>
          <a:p>
            <a:pPr marL="342900" indent="-342900" algn="l">
              <a:lnSpc>
                <a:spcPts val="1200"/>
              </a:lnSpc>
              <a:buSzPct val="100000"/>
              <a:buChar char="•"/>
            </a:pPr>
            <a:r>
              <a:rPr lang="en-US" sz="950" dirty="0">
                <a:solidFill>
                  <a:srgbClr val="67534F"/>
                </a:solidFill>
                <a:latin typeface="Montserrat" pitchFamily="34" charset="0"/>
                <a:ea typeface="Montserrat" pitchFamily="34" charset="-122"/>
                <a:cs typeface="Montserrat" pitchFamily="34" charset="-120"/>
              </a:rPr>
              <a:t>Reduced memory footprint</a:t>
            </a:r>
            <a:endParaRPr lang="en-US" sz="950" dirty="0"/>
          </a:p>
        </p:txBody>
      </p:sp>
      <p:sp>
        <p:nvSpPr>
          <p:cNvPr id="13" name="Text 11"/>
          <p:cNvSpPr/>
          <p:nvPr/>
        </p:nvSpPr>
        <p:spPr>
          <a:xfrm>
            <a:off x="9801820" y="2099786"/>
            <a:ext cx="4211955" cy="158234"/>
          </a:xfrm>
          <a:prstGeom prst="rect">
            <a:avLst/>
          </a:prstGeom>
          <a:noFill/>
          <a:ln/>
        </p:spPr>
        <p:txBody>
          <a:bodyPr wrap="none" lIns="0" tIns="0" rIns="0" bIns="0" rtlCol="0" anchor="t"/>
          <a:lstStyle/>
          <a:p>
            <a:pPr marL="342900" indent="-342900" algn="l">
              <a:lnSpc>
                <a:spcPts val="1200"/>
              </a:lnSpc>
              <a:buSzPct val="100000"/>
              <a:buChar char="•"/>
            </a:pPr>
            <a:r>
              <a:rPr lang="en-US" sz="950" dirty="0">
                <a:solidFill>
                  <a:srgbClr val="67534F"/>
                </a:solidFill>
                <a:latin typeface="Montserrat" pitchFamily="34" charset="0"/>
                <a:ea typeface="Montserrat" pitchFamily="34" charset="-122"/>
                <a:cs typeface="Montserrat" pitchFamily="34" charset="-120"/>
              </a:rPr>
              <a:t>Global access point</a:t>
            </a:r>
            <a:endParaRPr lang="en-US" sz="950" dirty="0"/>
          </a:p>
        </p:txBody>
      </p:sp>
      <p:sp>
        <p:nvSpPr>
          <p:cNvPr id="14" name="Text 12"/>
          <p:cNvSpPr/>
          <p:nvPr/>
        </p:nvSpPr>
        <p:spPr>
          <a:xfrm>
            <a:off x="9801820" y="2300645"/>
            <a:ext cx="4211955" cy="158234"/>
          </a:xfrm>
          <a:prstGeom prst="rect">
            <a:avLst/>
          </a:prstGeom>
          <a:noFill/>
          <a:ln/>
        </p:spPr>
        <p:txBody>
          <a:bodyPr wrap="none" lIns="0" tIns="0" rIns="0" bIns="0" rtlCol="0" anchor="t"/>
          <a:lstStyle/>
          <a:p>
            <a:pPr marL="342900" indent="-342900" algn="l">
              <a:lnSpc>
                <a:spcPts val="1200"/>
              </a:lnSpc>
              <a:buSzPct val="100000"/>
              <a:buChar char="•"/>
            </a:pPr>
            <a:r>
              <a:rPr lang="en-US" sz="950" dirty="0">
                <a:solidFill>
                  <a:srgbClr val="67534F"/>
                </a:solidFill>
                <a:latin typeface="Montserrat" pitchFamily="34" charset="0"/>
                <a:ea typeface="Montserrat" pitchFamily="34" charset="-122"/>
                <a:cs typeface="Montserrat" pitchFamily="34" charset="-120"/>
              </a:rPr>
              <a:t> Initialization option</a:t>
            </a:r>
            <a:endParaRPr lang="en-US" sz="950" dirty="0"/>
          </a:p>
        </p:txBody>
      </p:sp>
      <p:sp>
        <p:nvSpPr>
          <p:cNvPr id="15" name="Text 13"/>
          <p:cNvSpPr/>
          <p:nvPr/>
        </p:nvSpPr>
        <p:spPr>
          <a:xfrm>
            <a:off x="487204" y="2770942"/>
            <a:ext cx="4855131" cy="273129"/>
          </a:xfrm>
          <a:prstGeom prst="rect">
            <a:avLst/>
          </a:prstGeom>
          <a:noFill/>
          <a:ln/>
        </p:spPr>
        <p:txBody>
          <a:bodyPr wrap="none" lIns="0" tIns="0" rIns="0" bIns="0" rtlCol="0" anchor="t"/>
          <a:lstStyle/>
          <a:p>
            <a:pPr marL="0" indent="0" algn="l">
              <a:lnSpc>
                <a:spcPts val="2150"/>
              </a:lnSpc>
              <a:buNone/>
            </a:pPr>
            <a:endParaRPr lang="en-US" sz="1650" dirty="0"/>
          </a:p>
        </p:txBody>
      </p:sp>
      <p:sp>
        <p:nvSpPr>
          <p:cNvPr id="16" name="Shape 14"/>
          <p:cNvSpPr/>
          <p:nvPr/>
        </p:nvSpPr>
        <p:spPr>
          <a:xfrm>
            <a:off x="487204" y="3226713"/>
            <a:ext cx="13655993" cy="3980259"/>
          </a:xfrm>
          <a:prstGeom prst="roundRect">
            <a:avLst>
              <a:gd name="adj" fmla="val 1285"/>
            </a:avLst>
          </a:prstGeom>
          <a:solidFill>
            <a:srgbClr val="F2F2E7"/>
          </a:solidFill>
          <a:ln/>
        </p:spPr>
        <p:txBody>
          <a:bodyPr/>
          <a:lstStyle/>
          <a:p>
            <a:endParaRPr lang="en-GB"/>
          </a:p>
        </p:txBody>
      </p:sp>
      <p:sp>
        <p:nvSpPr>
          <p:cNvPr id="17" name="Shape 15"/>
          <p:cNvSpPr/>
          <p:nvPr/>
        </p:nvSpPr>
        <p:spPr>
          <a:xfrm>
            <a:off x="481132" y="3226713"/>
            <a:ext cx="13668137" cy="3980259"/>
          </a:xfrm>
          <a:prstGeom prst="roundRect">
            <a:avLst>
              <a:gd name="adj" fmla="val 459"/>
            </a:avLst>
          </a:prstGeom>
          <a:solidFill>
            <a:srgbClr val="F2F2E7"/>
          </a:solidFill>
          <a:ln/>
        </p:spPr>
        <p:txBody>
          <a:bodyPr/>
          <a:lstStyle/>
          <a:p>
            <a:r>
              <a:rPr lang="en-GB" b="1" dirty="0"/>
              <a:t>Mechanism:</a:t>
            </a:r>
            <a:r>
              <a:rPr lang="en-GB" dirty="0"/>
              <a:t> Achieved by a </a:t>
            </a:r>
            <a:r>
              <a:rPr lang="en-GB" b="1" dirty="0"/>
              <a:t>Private Constructor</a:t>
            </a:r>
            <a:r>
              <a:rPr lang="en-GB" dirty="0"/>
              <a:t>, a </a:t>
            </a:r>
            <a:r>
              <a:rPr lang="en-GB" b="1" dirty="0"/>
              <a:t>Static Field</a:t>
            </a:r>
            <a:r>
              <a:rPr lang="en-GB" dirty="0"/>
              <a:t> to hold the instance, and a </a:t>
            </a:r>
            <a:r>
              <a:rPr lang="en-GB" b="1" dirty="0"/>
              <a:t>Static Getter</a:t>
            </a:r>
            <a:r>
              <a:rPr lang="en-GB" dirty="0"/>
              <a:t> (</a:t>
            </a:r>
            <a:r>
              <a:rPr lang="en-GB" dirty="0" err="1"/>
              <a:t>getInstance</a:t>
            </a:r>
            <a:r>
              <a:rPr lang="en-GB" dirty="0"/>
              <a:t>()).</a:t>
            </a:r>
          </a:p>
          <a:p>
            <a:endParaRPr lang="en-GB" dirty="0"/>
          </a:p>
          <a:p>
            <a:endParaRPr lang="en-GB" dirty="0"/>
          </a:p>
          <a:p>
            <a:endParaRPr lang="en-GB" dirty="0"/>
          </a:p>
          <a:p>
            <a:endParaRPr lang="en-GB" dirty="0"/>
          </a:p>
          <a:p>
            <a:r>
              <a:rPr lang="en-GB" dirty="0"/>
              <a:t> </a:t>
            </a:r>
            <a:r>
              <a:rPr lang="en-GB" b="1" dirty="0"/>
              <a:t>Initialization Types:</a:t>
            </a:r>
            <a:r>
              <a:rPr lang="en-GB" dirty="0"/>
              <a:t> </a:t>
            </a:r>
          </a:p>
          <a:p>
            <a:pPr marL="342900" indent="-342900">
              <a:buAutoNum type="arabicPeriod"/>
            </a:pPr>
            <a:r>
              <a:rPr lang="en-GB" b="1" dirty="0"/>
              <a:t>Lazy Initialization:</a:t>
            </a:r>
            <a:r>
              <a:rPr lang="en-GB" dirty="0"/>
              <a:t> Instance is created </a:t>
            </a:r>
            <a:r>
              <a:rPr lang="en-GB" b="1" dirty="0"/>
              <a:t>only when requested</a:t>
            </a:r>
            <a:r>
              <a:rPr lang="en-GB" dirty="0"/>
              <a:t> for the first time (saves memory but is slower on first call). </a:t>
            </a:r>
          </a:p>
          <a:p>
            <a:pPr marL="342900" indent="-342900">
              <a:buAutoNum type="arabicPeriod"/>
            </a:pPr>
            <a:r>
              <a:rPr lang="en-GB" b="1" dirty="0"/>
              <a:t>Eager Initialization:</a:t>
            </a:r>
            <a:r>
              <a:rPr lang="en-GB" dirty="0"/>
              <a:t> Instance is created </a:t>
            </a:r>
            <a:r>
              <a:rPr lang="en-GB" b="1" dirty="0"/>
              <a:t>when the class is loaded</a:t>
            </a:r>
            <a:r>
              <a:rPr lang="en-GB" dirty="0"/>
              <a:t> (faster access but uses memory regardless of use). </a:t>
            </a:r>
          </a:p>
          <a:p>
            <a:pPr marL="342900" indent="-342900">
              <a:buAutoNum type="arabicPeriod"/>
            </a:pPr>
            <a:endParaRPr lang="en-GB" b="1" dirty="0"/>
          </a:p>
          <a:p>
            <a:pPr marL="342900" indent="-342900">
              <a:buAutoNum type="arabicPeriod"/>
            </a:pPr>
            <a:endParaRPr lang="en-GB" b="1" dirty="0"/>
          </a:p>
          <a:p>
            <a:r>
              <a:rPr lang="en-GB" b="1" dirty="0"/>
              <a:t>Use Cases:</a:t>
            </a:r>
            <a:r>
              <a:rPr lang="en-GB" dirty="0"/>
              <a:t> Loggers, Configuration Managers, or managing a single thread pool.</a:t>
            </a:r>
          </a:p>
        </p:txBody>
      </p:sp>
      <p:sp>
        <p:nvSpPr>
          <p:cNvPr id="18" name="Text 16"/>
          <p:cNvSpPr/>
          <p:nvPr/>
        </p:nvSpPr>
        <p:spPr>
          <a:xfrm>
            <a:off x="602933" y="3371613"/>
            <a:ext cx="5552207" cy="3835360"/>
          </a:xfrm>
          <a:prstGeom prst="rect">
            <a:avLst/>
          </a:prstGeom>
          <a:noFill/>
          <a:ln/>
        </p:spPr>
        <p:txBody>
          <a:bodyPr wrap="square" lIns="0" tIns="0" rIns="0" bIns="0" rtlCol="0" anchor="t"/>
          <a:lstStyle/>
          <a:p>
            <a:pPr marL="0" indent="0" algn="l">
              <a:lnSpc>
                <a:spcPts val="1200"/>
              </a:lnSpc>
              <a:buNone/>
            </a:pPr>
            <a:endParaRPr lang="en-US" sz="950" dirty="0"/>
          </a:p>
        </p:txBody>
      </p:sp>
      <p:sp>
        <p:nvSpPr>
          <p:cNvPr id="19" name="Text 17"/>
          <p:cNvSpPr/>
          <p:nvPr/>
        </p:nvSpPr>
        <p:spPr>
          <a:xfrm>
            <a:off x="487204" y="7344013"/>
            <a:ext cx="13655993" cy="316468"/>
          </a:xfrm>
          <a:prstGeom prst="rect">
            <a:avLst/>
          </a:prstGeom>
          <a:noFill/>
          <a:ln/>
        </p:spPr>
        <p:txBody>
          <a:bodyPr wrap="square" lIns="0" tIns="0" rIns="0" bIns="0" rtlCol="0" anchor="t"/>
          <a:lstStyle/>
          <a:p>
            <a:pPr marL="0" indent="0" algn="l">
              <a:lnSpc>
                <a:spcPts val="1200"/>
              </a:lnSpc>
              <a:buNone/>
            </a:pPr>
            <a:endParaRPr lang="en-US" sz="950" dirty="0"/>
          </a:p>
        </p:txBody>
      </p:sp>
      <p:pic>
        <p:nvPicPr>
          <p:cNvPr id="20" name="Picture 19">
            <a:extLst>
              <a:ext uri="{FF2B5EF4-FFF2-40B4-BE49-F238E27FC236}">
                <a16:creationId xmlns:a16="http://schemas.microsoft.com/office/drawing/2014/main" id="{03D38AA0-9F63-26BF-5918-CF9430D69DD9}"/>
              </a:ext>
            </a:extLst>
          </p:cNvPr>
          <p:cNvPicPr>
            <a:picLocks noChangeAspect="1"/>
          </p:cNvPicPr>
          <p:nvPr/>
        </p:nvPicPr>
        <p:blipFill>
          <a:blip r:embed="rId3"/>
          <a:stretch>
            <a:fillRect/>
          </a:stretch>
        </p:blipFill>
        <p:spPr>
          <a:xfrm>
            <a:off x="12837334" y="7781097"/>
            <a:ext cx="1695687" cy="3524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7AA6CA-15F5-0996-8D5D-35B531D1E721}"/>
              </a:ext>
            </a:extLst>
          </p:cNvPr>
          <p:cNvSpPr txBox="1"/>
          <p:nvPr/>
        </p:nvSpPr>
        <p:spPr>
          <a:xfrm>
            <a:off x="308225" y="592147"/>
            <a:ext cx="7089168" cy="4247317"/>
          </a:xfrm>
          <a:prstGeom prst="rect">
            <a:avLst/>
          </a:prstGeom>
          <a:noFill/>
        </p:spPr>
        <p:txBody>
          <a:bodyPr wrap="square">
            <a:spAutoFit/>
          </a:bodyPr>
          <a:lstStyle/>
          <a:p>
            <a:r>
              <a:rPr lang="en-GB" b="1" dirty="0"/>
              <a:t>Eager Initialization (</a:t>
            </a:r>
            <a:r>
              <a:rPr lang="en-GB" b="1" dirty="0" err="1"/>
              <a:t>EagerSingleton</a:t>
            </a:r>
            <a:r>
              <a:rPr lang="en-GB" b="1" dirty="0"/>
              <a:t>) 🚀</a:t>
            </a:r>
          </a:p>
          <a:p>
            <a:r>
              <a:rPr lang="en-GB" dirty="0"/>
              <a:t>The instance is created when the class is loaded, ensuring thread safety for creation but consuming memory immediately.</a:t>
            </a:r>
          </a:p>
          <a:p>
            <a:endParaRPr lang="en-GB" dirty="0"/>
          </a:p>
          <a:p>
            <a:endParaRPr lang="en-GB" dirty="0"/>
          </a:p>
          <a:p>
            <a:r>
              <a:rPr lang="en-GB" dirty="0"/>
              <a:t>public class </a:t>
            </a:r>
            <a:r>
              <a:rPr lang="en-GB" dirty="0" err="1"/>
              <a:t>EagerSingleton</a:t>
            </a:r>
            <a:r>
              <a:rPr lang="en-GB" dirty="0"/>
              <a:t> {</a:t>
            </a:r>
          </a:p>
          <a:p>
            <a:endParaRPr lang="en-GB" dirty="0"/>
          </a:p>
          <a:p>
            <a:r>
              <a:rPr lang="en-GB" dirty="0"/>
              <a:t>    private static final </a:t>
            </a:r>
            <a:r>
              <a:rPr lang="en-GB" dirty="0" err="1"/>
              <a:t>EagerSingleton</a:t>
            </a:r>
            <a:r>
              <a:rPr lang="en-GB" dirty="0"/>
              <a:t> INSTANCE = new </a:t>
            </a:r>
            <a:r>
              <a:rPr lang="en-GB" dirty="0" err="1"/>
              <a:t>EagerSingleton</a:t>
            </a:r>
            <a:r>
              <a:rPr lang="en-GB" dirty="0"/>
              <a:t>();</a:t>
            </a:r>
          </a:p>
          <a:p>
            <a:endParaRPr lang="en-GB" dirty="0"/>
          </a:p>
          <a:p>
            <a:r>
              <a:rPr lang="en-GB" dirty="0"/>
              <a:t>    private </a:t>
            </a:r>
            <a:r>
              <a:rPr lang="en-GB" dirty="0" err="1"/>
              <a:t>EagerSingleton</a:t>
            </a:r>
            <a:r>
              <a:rPr lang="en-GB" dirty="0"/>
              <a:t>() {}</a:t>
            </a:r>
          </a:p>
          <a:p>
            <a:endParaRPr lang="en-GB" dirty="0"/>
          </a:p>
          <a:p>
            <a:r>
              <a:rPr lang="en-GB" dirty="0"/>
              <a:t>    public static </a:t>
            </a:r>
            <a:r>
              <a:rPr lang="en-GB" dirty="0" err="1"/>
              <a:t>EagerSingleton</a:t>
            </a:r>
            <a:r>
              <a:rPr lang="en-GB" dirty="0"/>
              <a:t> </a:t>
            </a:r>
            <a:r>
              <a:rPr lang="en-GB" dirty="0" err="1"/>
              <a:t>getInstance</a:t>
            </a:r>
            <a:r>
              <a:rPr lang="en-GB" dirty="0"/>
              <a:t>() {</a:t>
            </a:r>
          </a:p>
          <a:p>
            <a:r>
              <a:rPr lang="en-GB" dirty="0"/>
              <a:t>        return INSTANCE;</a:t>
            </a:r>
          </a:p>
          <a:p>
            <a:r>
              <a:rPr lang="en-GB" dirty="0"/>
              <a:t>    }</a:t>
            </a:r>
          </a:p>
          <a:p>
            <a:r>
              <a:rPr lang="en-GB" dirty="0"/>
              <a:t>}</a:t>
            </a:r>
          </a:p>
        </p:txBody>
      </p:sp>
      <p:sp>
        <p:nvSpPr>
          <p:cNvPr id="7" name="TextBox 6">
            <a:extLst>
              <a:ext uri="{FF2B5EF4-FFF2-40B4-BE49-F238E27FC236}">
                <a16:creationId xmlns:a16="http://schemas.microsoft.com/office/drawing/2014/main" id="{70FE27D0-15CF-AE8C-9214-8916A2EBA75C}"/>
              </a:ext>
            </a:extLst>
          </p:cNvPr>
          <p:cNvSpPr txBox="1"/>
          <p:nvPr/>
        </p:nvSpPr>
        <p:spPr>
          <a:xfrm>
            <a:off x="7510409" y="577408"/>
            <a:ext cx="7315200" cy="5078313"/>
          </a:xfrm>
          <a:prstGeom prst="rect">
            <a:avLst/>
          </a:prstGeom>
          <a:noFill/>
        </p:spPr>
        <p:txBody>
          <a:bodyPr wrap="square">
            <a:spAutoFit/>
          </a:bodyPr>
          <a:lstStyle/>
          <a:p>
            <a:pPr>
              <a:buNone/>
            </a:pPr>
            <a:r>
              <a:rPr lang="en-GB" b="1" dirty="0"/>
              <a:t>Lazy Initialization (</a:t>
            </a:r>
            <a:r>
              <a:rPr lang="en-GB" b="1" dirty="0" err="1"/>
              <a:t>LazySingleton</a:t>
            </a:r>
            <a:r>
              <a:rPr lang="en-GB" b="1" dirty="0"/>
              <a:t>) 😴</a:t>
            </a:r>
          </a:p>
          <a:p>
            <a:pPr>
              <a:buNone/>
            </a:pPr>
            <a:r>
              <a:rPr lang="en-GB" dirty="0"/>
              <a:t>The instance is created only when the </a:t>
            </a:r>
            <a:r>
              <a:rPr lang="en-GB" dirty="0" err="1">
                <a:latin typeface="Courier New" panose="02070309020205020404" pitchFamily="49" charset="0"/>
              </a:rPr>
              <a:t>getInstance</a:t>
            </a:r>
            <a:r>
              <a:rPr lang="en-GB" dirty="0">
                <a:latin typeface="Courier New" panose="02070309020205020404" pitchFamily="49" charset="0"/>
              </a:rPr>
              <a:t>()</a:t>
            </a:r>
            <a:r>
              <a:rPr lang="en-GB" dirty="0"/>
              <a:t> method is called for the first time.</a:t>
            </a:r>
          </a:p>
          <a:p>
            <a:pPr>
              <a:buNone/>
            </a:pPr>
            <a:endParaRPr lang="en-GB" dirty="0"/>
          </a:p>
          <a:p>
            <a:pPr>
              <a:buNone/>
            </a:pPr>
            <a:endParaRPr lang="en-GB" dirty="0"/>
          </a:p>
          <a:p>
            <a:pPr>
              <a:buNone/>
            </a:pPr>
            <a:r>
              <a:rPr lang="en-GB" dirty="0"/>
              <a:t>public class </a:t>
            </a:r>
            <a:r>
              <a:rPr lang="en-GB" dirty="0" err="1"/>
              <a:t>LazySingleton</a:t>
            </a:r>
            <a:r>
              <a:rPr lang="en-GB" dirty="0"/>
              <a:t> {</a:t>
            </a:r>
          </a:p>
          <a:p>
            <a:pPr>
              <a:buNone/>
            </a:pPr>
            <a:endParaRPr lang="en-GB" dirty="0"/>
          </a:p>
          <a:p>
            <a:pPr>
              <a:buNone/>
            </a:pPr>
            <a:r>
              <a:rPr lang="en-GB" dirty="0"/>
              <a:t>    private static </a:t>
            </a:r>
            <a:r>
              <a:rPr lang="en-GB" dirty="0" err="1"/>
              <a:t>LazySingleton</a:t>
            </a:r>
            <a:r>
              <a:rPr lang="en-GB" dirty="0"/>
              <a:t> instance;</a:t>
            </a:r>
          </a:p>
          <a:p>
            <a:pPr>
              <a:buNone/>
            </a:pPr>
            <a:endParaRPr lang="en-GB" dirty="0"/>
          </a:p>
          <a:p>
            <a:pPr>
              <a:buNone/>
            </a:pPr>
            <a:r>
              <a:rPr lang="en-GB" dirty="0"/>
              <a:t>    private </a:t>
            </a:r>
            <a:r>
              <a:rPr lang="en-GB" dirty="0" err="1"/>
              <a:t>LazySingleton</a:t>
            </a:r>
            <a:r>
              <a:rPr lang="en-GB" dirty="0"/>
              <a:t>() {}</a:t>
            </a:r>
          </a:p>
          <a:p>
            <a:pPr>
              <a:buNone/>
            </a:pPr>
            <a:endParaRPr lang="en-GB" dirty="0"/>
          </a:p>
          <a:p>
            <a:pPr>
              <a:buNone/>
            </a:pPr>
            <a:r>
              <a:rPr lang="en-GB" dirty="0"/>
              <a:t>    public static </a:t>
            </a:r>
            <a:r>
              <a:rPr lang="en-GB" dirty="0" err="1"/>
              <a:t>LazySingleton</a:t>
            </a:r>
            <a:r>
              <a:rPr lang="en-GB" dirty="0"/>
              <a:t> </a:t>
            </a:r>
            <a:r>
              <a:rPr lang="en-GB" dirty="0" err="1"/>
              <a:t>getInstance</a:t>
            </a:r>
            <a:r>
              <a:rPr lang="en-GB" dirty="0"/>
              <a:t>() {</a:t>
            </a:r>
          </a:p>
          <a:p>
            <a:pPr>
              <a:buNone/>
            </a:pPr>
            <a:r>
              <a:rPr lang="en-GB" dirty="0"/>
              <a:t>        if (instance == null) {</a:t>
            </a:r>
          </a:p>
          <a:p>
            <a:pPr>
              <a:buNone/>
            </a:pPr>
            <a:r>
              <a:rPr lang="en-GB" dirty="0"/>
              <a:t>            instance = new </a:t>
            </a:r>
            <a:r>
              <a:rPr lang="en-GB" dirty="0" err="1"/>
              <a:t>LazySingleton</a:t>
            </a:r>
            <a:r>
              <a:rPr lang="en-GB" dirty="0"/>
              <a:t>();</a:t>
            </a:r>
          </a:p>
          <a:p>
            <a:pPr>
              <a:buNone/>
            </a:pPr>
            <a:r>
              <a:rPr lang="en-GB" dirty="0"/>
              <a:t>        }</a:t>
            </a:r>
          </a:p>
          <a:p>
            <a:pPr>
              <a:buNone/>
            </a:pPr>
            <a:r>
              <a:rPr lang="en-GB" dirty="0"/>
              <a:t>        return instance;</a:t>
            </a:r>
          </a:p>
          <a:p>
            <a:pPr>
              <a:buNone/>
            </a:pPr>
            <a:r>
              <a:rPr lang="en-GB" dirty="0"/>
              <a:t>    }</a:t>
            </a:r>
          </a:p>
          <a:p>
            <a:pPr>
              <a:buNone/>
            </a:pPr>
            <a:r>
              <a:rPr lang="en-GB" dirty="0"/>
              <a:t>}</a:t>
            </a:r>
          </a:p>
        </p:txBody>
      </p:sp>
      <p:sp>
        <p:nvSpPr>
          <p:cNvPr id="9" name="TextBox 8">
            <a:extLst>
              <a:ext uri="{FF2B5EF4-FFF2-40B4-BE49-F238E27FC236}">
                <a16:creationId xmlns:a16="http://schemas.microsoft.com/office/drawing/2014/main" id="{60500B00-72E9-CCAE-9F2B-C9E278CA8D78}"/>
              </a:ext>
            </a:extLst>
          </p:cNvPr>
          <p:cNvSpPr txBox="1"/>
          <p:nvPr/>
        </p:nvSpPr>
        <p:spPr>
          <a:xfrm>
            <a:off x="220894" y="6694285"/>
            <a:ext cx="14188611" cy="646331"/>
          </a:xfrm>
          <a:prstGeom prst="rect">
            <a:avLst/>
          </a:prstGeom>
          <a:noFill/>
        </p:spPr>
        <p:txBody>
          <a:bodyPr wrap="square">
            <a:spAutoFit/>
          </a:bodyPr>
          <a:lstStyle/>
          <a:p>
            <a:r>
              <a:rPr lang="en-GB" dirty="0"/>
              <a:t>The key difference between the two approaches lies in </a:t>
            </a:r>
            <a:r>
              <a:rPr lang="en-GB" b="1" dirty="0"/>
              <a:t>where</a:t>
            </a:r>
            <a:r>
              <a:rPr lang="en-GB" dirty="0"/>
              <a:t> the instantiation happens: inside the static field declaration (Eager) or inside the getter method (Lazy).</a:t>
            </a:r>
          </a:p>
        </p:txBody>
      </p:sp>
    </p:spTree>
    <p:extLst>
      <p:ext uri="{BB962C8B-B14F-4D97-AF65-F5344CB8AC3E}">
        <p14:creationId xmlns:p14="http://schemas.microsoft.com/office/powerpoint/2010/main" val="2637133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15660" y="436721"/>
            <a:ext cx="11601450" cy="481727"/>
          </a:xfrm>
          <a:prstGeom prst="rect">
            <a:avLst/>
          </a:prstGeom>
          <a:noFill/>
          <a:ln/>
        </p:spPr>
        <p:txBody>
          <a:bodyPr wrap="none" lIns="0" tIns="0" rIns="0" bIns="0" rtlCol="0" anchor="t"/>
          <a:lstStyle/>
          <a:p>
            <a:pPr marL="0" indent="0" algn="l">
              <a:lnSpc>
                <a:spcPts val="3750"/>
              </a:lnSpc>
              <a:buNone/>
            </a:pPr>
            <a:r>
              <a:rPr lang="en-US" sz="2900" dirty="0">
                <a:solidFill>
                  <a:srgbClr val="532418"/>
                </a:solidFill>
                <a:latin typeface="Marcellus" pitchFamily="34" charset="0"/>
                <a:ea typeface="Marcellus" pitchFamily="34" charset="-122"/>
                <a:cs typeface="Marcellus" pitchFamily="34" charset="-120"/>
              </a:rPr>
              <a:t>Factory Method Pattern: Creating Objects Without Specifying Classes</a:t>
            </a:r>
            <a:endParaRPr lang="en-US" sz="2900" dirty="0"/>
          </a:p>
        </p:txBody>
      </p:sp>
      <p:sp>
        <p:nvSpPr>
          <p:cNvPr id="3" name="Text 1"/>
          <p:cNvSpPr/>
          <p:nvPr/>
        </p:nvSpPr>
        <p:spPr>
          <a:xfrm>
            <a:off x="515660" y="1240631"/>
            <a:ext cx="3175992" cy="289084"/>
          </a:xfrm>
          <a:prstGeom prst="rect">
            <a:avLst/>
          </a:prstGeom>
          <a:noFill/>
          <a:ln/>
        </p:spPr>
        <p:txBody>
          <a:bodyPr wrap="none" lIns="0" tIns="0" rIns="0" bIns="0" rtlCol="0" anchor="t"/>
          <a:lstStyle/>
          <a:p>
            <a:pPr marL="0" indent="0" algn="l">
              <a:lnSpc>
                <a:spcPts val="2250"/>
              </a:lnSpc>
              <a:buNone/>
            </a:pPr>
            <a:r>
              <a:rPr lang="en-US" sz="1750" dirty="0">
                <a:solidFill>
                  <a:srgbClr val="532418"/>
                </a:solidFill>
                <a:latin typeface="Marcellus" pitchFamily="34" charset="0"/>
                <a:ea typeface="Marcellus" pitchFamily="34" charset="-122"/>
                <a:cs typeface="Marcellus" pitchFamily="34" charset="-120"/>
              </a:rPr>
              <a:t>Understanding Factory Method</a:t>
            </a:r>
            <a:endParaRPr lang="en-US" sz="1750" dirty="0"/>
          </a:p>
        </p:txBody>
      </p:sp>
      <p:sp>
        <p:nvSpPr>
          <p:cNvPr id="4" name="Text 2"/>
          <p:cNvSpPr/>
          <p:nvPr/>
        </p:nvSpPr>
        <p:spPr>
          <a:xfrm>
            <a:off x="515660" y="1658541"/>
            <a:ext cx="5946577" cy="502563"/>
          </a:xfrm>
          <a:prstGeom prst="rect">
            <a:avLst/>
          </a:prstGeom>
          <a:noFill/>
          <a:ln/>
        </p:spPr>
        <p:txBody>
          <a:bodyPr wrap="square" lIns="0" tIns="0" rIns="0" bIns="0" rtlCol="0" anchor="t"/>
          <a:lstStyle/>
          <a:p>
            <a:pPr marL="0" indent="0" algn="l">
              <a:lnSpc>
                <a:spcPts val="1300"/>
              </a:lnSpc>
              <a:buNone/>
            </a:pPr>
            <a:r>
              <a:rPr lang="en-US" sz="1000" dirty="0">
                <a:solidFill>
                  <a:srgbClr val="67534F"/>
                </a:solidFill>
                <a:latin typeface="Montserrat" pitchFamily="34" charset="0"/>
                <a:ea typeface="Montserrat" pitchFamily="34" charset="-122"/>
                <a:cs typeface="Montserrat" pitchFamily="34" charset="-120"/>
              </a:rPr>
              <a:t>The Factory Method pattern defines an interface for creating objects but lets subclasses decide which class to instantiate. It delegates the instantiation logic to child classes, promoting loose coupling and adherence to the Open/Closed Principle.</a:t>
            </a:r>
            <a:endParaRPr lang="en-US" sz="1000" dirty="0"/>
          </a:p>
        </p:txBody>
      </p:sp>
      <p:sp>
        <p:nvSpPr>
          <p:cNvPr id="5" name="Text 3"/>
          <p:cNvSpPr/>
          <p:nvPr/>
        </p:nvSpPr>
        <p:spPr>
          <a:xfrm>
            <a:off x="515660" y="2277070"/>
            <a:ext cx="5946577" cy="510183"/>
          </a:xfrm>
          <a:prstGeom prst="rect">
            <a:avLst/>
          </a:prstGeom>
          <a:noFill/>
          <a:ln/>
        </p:spPr>
        <p:txBody>
          <a:bodyPr wrap="square" lIns="0" tIns="0" rIns="0" bIns="0" rtlCol="0" anchor="t"/>
          <a:lstStyle/>
          <a:p>
            <a:pPr marL="0" indent="0" algn="l">
              <a:lnSpc>
                <a:spcPts val="1300"/>
              </a:lnSpc>
              <a:buNone/>
            </a:pPr>
            <a:r>
              <a:rPr lang="en-US" sz="1000" dirty="0">
                <a:solidFill>
                  <a:srgbClr val="67534F"/>
                </a:solidFill>
                <a:latin typeface="Montserrat" pitchFamily="34" charset="0"/>
                <a:ea typeface="Montserrat" pitchFamily="34" charset="-122"/>
                <a:cs typeface="Montserrat" pitchFamily="34" charset="-120"/>
              </a:rPr>
              <a:t>Instead of calling a constructor directly with the </a:t>
            </a:r>
            <a:r>
              <a:rPr lang="en-US" sz="1000" dirty="0">
                <a:solidFill>
                  <a:srgbClr val="67534F"/>
                </a:solidFill>
                <a:highlight>
                  <a:srgbClr val="F2F2E7"/>
                </a:highlight>
                <a:latin typeface="Consolas" pitchFamily="34" charset="0"/>
                <a:ea typeface="Consolas" pitchFamily="34" charset="-122"/>
                <a:cs typeface="Consolas" pitchFamily="34" charset="-120"/>
              </a:rPr>
              <a:t>new</a:t>
            </a:r>
            <a:r>
              <a:rPr lang="en-US" sz="1000" dirty="0">
                <a:solidFill>
                  <a:srgbClr val="67534F"/>
                </a:solidFill>
                <a:latin typeface="Montserrat" pitchFamily="34" charset="0"/>
                <a:ea typeface="Montserrat" pitchFamily="34" charset="-122"/>
                <a:cs typeface="Montserrat" pitchFamily="34" charset="-120"/>
              </a:rPr>
              <a:t> operator, you call a factory method. This abstraction allows the code to work with interfaces rather than concrete classes, making it more flexible and extensible.</a:t>
            </a:r>
            <a:endParaRPr lang="en-US" sz="1000" dirty="0"/>
          </a:p>
        </p:txBody>
      </p:sp>
      <p:sp>
        <p:nvSpPr>
          <p:cNvPr id="6" name="Text 4"/>
          <p:cNvSpPr/>
          <p:nvPr/>
        </p:nvSpPr>
        <p:spPr>
          <a:xfrm>
            <a:off x="6784419" y="1240631"/>
            <a:ext cx="3008590" cy="289084"/>
          </a:xfrm>
          <a:prstGeom prst="rect">
            <a:avLst/>
          </a:prstGeom>
          <a:noFill/>
          <a:ln/>
        </p:spPr>
        <p:txBody>
          <a:bodyPr wrap="none" lIns="0" tIns="0" rIns="0" bIns="0" rtlCol="0" anchor="t"/>
          <a:lstStyle/>
          <a:p>
            <a:pPr marL="0" indent="0" algn="l">
              <a:lnSpc>
                <a:spcPts val="2250"/>
              </a:lnSpc>
              <a:buNone/>
            </a:pPr>
            <a:r>
              <a:rPr lang="en-US" sz="1750" dirty="0">
                <a:solidFill>
                  <a:srgbClr val="532418"/>
                </a:solidFill>
                <a:latin typeface="Marcellus" pitchFamily="34" charset="0"/>
                <a:ea typeface="Marcellus" pitchFamily="34" charset="-122"/>
                <a:cs typeface="Marcellus" pitchFamily="34" charset="-120"/>
              </a:rPr>
              <a:t>When to Use Factory Method</a:t>
            </a:r>
            <a:endParaRPr lang="en-US" sz="1750" dirty="0"/>
          </a:p>
        </p:txBody>
      </p:sp>
      <p:sp>
        <p:nvSpPr>
          <p:cNvPr id="7" name="Text 5"/>
          <p:cNvSpPr/>
          <p:nvPr/>
        </p:nvSpPr>
        <p:spPr>
          <a:xfrm>
            <a:off x="6784419" y="1658541"/>
            <a:ext cx="7337941" cy="167521"/>
          </a:xfrm>
          <a:prstGeom prst="rect">
            <a:avLst/>
          </a:prstGeom>
          <a:noFill/>
          <a:ln/>
        </p:spPr>
        <p:txBody>
          <a:bodyPr wrap="none" lIns="0" tIns="0" rIns="0" bIns="0" rtlCol="0" anchor="t"/>
          <a:lstStyle/>
          <a:p>
            <a:pPr marL="342900" indent="-342900" algn="l">
              <a:lnSpc>
                <a:spcPts val="1300"/>
              </a:lnSpc>
              <a:buSzPct val="100000"/>
              <a:buChar char="•"/>
            </a:pPr>
            <a:r>
              <a:rPr lang="en-US" sz="1000" dirty="0">
                <a:solidFill>
                  <a:srgbClr val="67534F"/>
                </a:solidFill>
                <a:latin typeface="Montserrat" pitchFamily="34" charset="0"/>
                <a:ea typeface="Montserrat" pitchFamily="34" charset="-122"/>
                <a:cs typeface="Montserrat" pitchFamily="34" charset="-120"/>
              </a:rPr>
              <a:t>When a class cannot anticipate the type of objects it needs to create</a:t>
            </a:r>
            <a:endParaRPr lang="en-US" sz="1000" dirty="0"/>
          </a:p>
        </p:txBody>
      </p:sp>
      <p:sp>
        <p:nvSpPr>
          <p:cNvPr id="8" name="Text 6"/>
          <p:cNvSpPr/>
          <p:nvPr/>
        </p:nvSpPr>
        <p:spPr>
          <a:xfrm>
            <a:off x="6784419" y="1871186"/>
            <a:ext cx="7337941" cy="167521"/>
          </a:xfrm>
          <a:prstGeom prst="rect">
            <a:avLst/>
          </a:prstGeom>
          <a:noFill/>
          <a:ln/>
        </p:spPr>
        <p:txBody>
          <a:bodyPr wrap="none" lIns="0" tIns="0" rIns="0" bIns="0" rtlCol="0" anchor="t"/>
          <a:lstStyle/>
          <a:p>
            <a:pPr marL="342900" indent="-342900" algn="l">
              <a:lnSpc>
                <a:spcPts val="1300"/>
              </a:lnSpc>
              <a:buSzPct val="100000"/>
              <a:buChar char="•"/>
            </a:pPr>
            <a:r>
              <a:rPr lang="en-US" sz="1000" dirty="0">
                <a:solidFill>
                  <a:srgbClr val="67534F"/>
                </a:solidFill>
                <a:latin typeface="Montserrat" pitchFamily="34" charset="0"/>
                <a:ea typeface="Montserrat" pitchFamily="34" charset="-122"/>
                <a:cs typeface="Montserrat" pitchFamily="34" charset="-120"/>
              </a:rPr>
              <a:t>When you want to delegate object creation to subclasses</a:t>
            </a:r>
            <a:endParaRPr lang="en-US" sz="1000" dirty="0"/>
          </a:p>
        </p:txBody>
      </p:sp>
      <p:sp>
        <p:nvSpPr>
          <p:cNvPr id="9" name="Text 7"/>
          <p:cNvSpPr/>
          <p:nvPr/>
        </p:nvSpPr>
        <p:spPr>
          <a:xfrm>
            <a:off x="6784419" y="2083832"/>
            <a:ext cx="7337941" cy="167521"/>
          </a:xfrm>
          <a:prstGeom prst="rect">
            <a:avLst/>
          </a:prstGeom>
          <a:noFill/>
          <a:ln/>
        </p:spPr>
        <p:txBody>
          <a:bodyPr wrap="none" lIns="0" tIns="0" rIns="0" bIns="0" rtlCol="0" anchor="t"/>
          <a:lstStyle/>
          <a:p>
            <a:pPr marL="342900" indent="-342900" algn="l">
              <a:lnSpc>
                <a:spcPts val="1300"/>
              </a:lnSpc>
              <a:buSzPct val="100000"/>
              <a:buChar char="•"/>
            </a:pPr>
            <a:r>
              <a:rPr lang="en-US" sz="1000" dirty="0">
                <a:solidFill>
                  <a:srgbClr val="67534F"/>
                </a:solidFill>
                <a:latin typeface="Montserrat" pitchFamily="34" charset="0"/>
                <a:ea typeface="Montserrat" pitchFamily="34" charset="-122"/>
                <a:cs typeface="Montserrat" pitchFamily="34" charset="-120"/>
              </a:rPr>
              <a:t>When you need to provide a library of products without exposing implementation</a:t>
            </a:r>
            <a:endParaRPr lang="en-US" sz="1000" dirty="0"/>
          </a:p>
        </p:txBody>
      </p:sp>
      <p:sp>
        <p:nvSpPr>
          <p:cNvPr id="10" name="Text 8"/>
          <p:cNvSpPr/>
          <p:nvPr/>
        </p:nvSpPr>
        <p:spPr>
          <a:xfrm>
            <a:off x="6784419" y="2296477"/>
            <a:ext cx="7337941" cy="167521"/>
          </a:xfrm>
          <a:prstGeom prst="rect">
            <a:avLst/>
          </a:prstGeom>
          <a:noFill/>
          <a:ln/>
        </p:spPr>
        <p:txBody>
          <a:bodyPr wrap="none" lIns="0" tIns="0" rIns="0" bIns="0" rtlCol="0" anchor="t"/>
          <a:lstStyle/>
          <a:p>
            <a:pPr marL="342900" indent="-342900" algn="l">
              <a:lnSpc>
                <a:spcPts val="1300"/>
              </a:lnSpc>
              <a:buSzPct val="100000"/>
              <a:buChar char="•"/>
            </a:pPr>
            <a:r>
              <a:rPr lang="en-US" sz="1000" dirty="0">
                <a:solidFill>
                  <a:srgbClr val="67534F"/>
                </a:solidFill>
                <a:latin typeface="Montserrat" pitchFamily="34" charset="0"/>
                <a:ea typeface="Montserrat" pitchFamily="34" charset="-122"/>
                <a:cs typeface="Montserrat" pitchFamily="34" charset="-120"/>
              </a:rPr>
              <a:t>When you want to save system resources by reusing existing objects</a:t>
            </a:r>
            <a:endParaRPr lang="en-US" sz="1000" dirty="0"/>
          </a:p>
        </p:txBody>
      </p:sp>
      <p:sp>
        <p:nvSpPr>
          <p:cNvPr id="11" name="Text 9"/>
          <p:cNvSpPr/>
          <p:nvPr/>
        </p:nvSpPr>
        <p:spPr>
          <a:xfrm>
            <a:off x="515660" y="3096578"/>
            <a:ext cx="4383048" cy="289084"/>
          </a:xfrm>
          <a:prstGeom prst="rect">
            <a:avLst/>
          </a:prstGeom>
          <a:noFill/>
          <a:ln/>
        </p:spPr>
        <p:txBody>
          <a:bodyPr wrap="none" lIns="0" tIns="0" rIns="0" bIns="0" rtlCol="0" anchor="t"/>
          <a:lstStyle/>
          <a:p>
            <a:pPr marL="0" indent="0" algn="l">
              <a:lnSpc>
                <a:spcPts val="2250"/>
              </a:lnSpc>
              <a:buNone/>
            </a:pPr>
            <a:r>
              <a:rPr lang="en-US" sz="1750" dirty="0">
                <a:solidFill>
                  <a:srgbClr val="532418"/>
                </a:solidFill>
                <a:latin typeface="Marcellus" pitchFamily="34" charset="0"/>
                <a:ea typeface="Marcellus" pitchFamily="34" charset="-122"/>
                <a:cs typeface="Marcellus" pitchFamily="34" charset="-120"/>
              </a:rPr>
              <a:t>Payment Gateway Implementation Example</a:t>
            </a:r>
            <a:endParaRPr lang="en-US" sz="1750" dirty="0"/>
          </a:p>
        </p:txBody>
      </p:sp>
      <p:sp>
        <p:nvSpPr>
          <p:cNvPr id="12" name="Shape 10"/>
          <p:cNvSpPr/>
          <p:nvPr/>
        </p:nvSpPr>
        <p:spPr>
          <a:xfrm>
            <a:off x="515660" y="3579019"/>
            <a:ext cx="13599081" cy="4213860"/>
          </a:xfrm>
          <a:prstGeom prst="roundRect">
            <a:avLst>
              <a:gd name="adj" fmla="val 1285"/>
            </a:avLst>
          </a:prstGeom>
          <a:solidFill>
            <a:srgbClr val="F2F2E7"/>
          </a:solidFill>
          <a:ln/>
        </p:spPr>
        <p:txBody>
          <a:bodyPr/>
          <a:lstStyle/>
          <a:p>
            <a:endParaRPr lang="en-GB"/>
          </a:p>
        </p:txBody>
      </p:sp>
      <p:sp>
        <p:nvSpPr>
          <p:cNvPr id="13" name="Shape 11"/>
          <p:cNvSpPr/>
          <p:nvPr/>
        </p:nvSpPr>
        <p:spPr>
          <a:xfrm>
            <a:off x="509230" y="3579019"/>
            <a:ext cx="13611939" cy="4213860"/>
          </a:xfrm>
          <a:prstGeom prst="roundRect">
            <a:avLst>
              <a:gd name="adj" fmla="val 459"/>
            </a:avLst>
          </a:prstGeom>
          <a:solidFill>
            <a:srgbClr val="F2F2E7"/>
          </a:solidFill>
          <a:ln/>
        </p:spPr>
        <p:txBody>
          <a:bodyPr/>
          <a:lstStyle/>
          <a:p>
            <a:endParaRPr lang="en-GB"/>
          </a:p>
        </p:txBody>
      </p:sp>
      <p:sp>
        <p:nvSpPr>
          <p:cNvPr id="14" name="Text 12"/>
          <p:cNvSpPr/>
          <p:nvPr/>
        </p:nvSpPr>
        <p:spPr>
          <a:xfrm>
            <a:off x="638056" y="3675698"/>
            <a:ext cx="13354288" cy="4020503"/>
          </a:xfrm>
          <a:prstGeom prst="rect">
            <a:avLst/>
          </a:prstGeom>
          <a:noFill/>
          <a:ln/>
        </p:spPr>
        <p:txBody>
          <a:bodyPr wrap="square" lIns="0" tIns="0" rIns="0" bIns="0" rtlCol="0" anchor="t"/>
          <a:lstStyle/>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public interface PaymentGateway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void processPayment(double amount);</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public class PayPalGateway implements PaymentGateway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public void processPayment(double amount)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r>
              <a:rPr lang="en-US" sz="1000" dirty="0" err="1">
                <a:solidFill>
                  <a:srgbClr val="67534F"/>
                </a:solidFill>
                <a:highlight>
                  <a:srgbClr val="F2F2E7"/>
                </a:highlight>
                <a:latin typeface="Consolas" pitchFamily="34" charset="0"/>
                <a:ea typeface="Consolas" pitchFamily="34" charset="-122"/>
                <a:cs typeface="Consolas" pitchFamily="34" charset="-120"/>
              </a:rPr>
              <a:t>System.out.println</a:t>
            </a:r>
            <a:r>
              <a:rPr lang="en-US" sz="1000" dirty="0">
                <a:solidFill>
                  <a:srgbClr val="67534F"/>
                </a:solidFill>
                <a:highlight>
                  <a:srgbClr val="F2F2E7"/>
                </a:highlight>
                <a:latin typeface="Consolas" pitchFamily="34" charset="0"/>
                <a:ea typeface="Consolas" pitchFamily="34" charset="-122"/>
                <a:cs typeface="Consolas" pitchFamily="34" charset="-120"/>
              </a:rPr>
              <a:t>("Processing ₹" + amount + " via PayPal");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public class StripeGateway implements PaymentGateway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public void processPayment(double amount)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r>
              <a:rPr lang="en-US" sz="1000" dirty="0" err="1">
                <a:solidFill>
                  <a:srgbClr val="67534F"/>
                </a:solidFill>
                <a:highlight>
                  <a:srgbClr val="F2F2E7"/>
                </a:highlight>
                <a:latin typeface="Consolas" pitchFamily="34" charset="0"/>
                <a:ea typeface="Consolas" pitchFamily="34" charset="-122"/>
                <a:cs typeface="Consolas" pitchFamily="34" charset="-120"/>
              </a:rPr>
              <a:t>System.out.println</a:t>
            </a:r>
            <a:r>
              <a:rPr lang="en-US" sz="1000" dirty="0">
                <a:solidFill>
                  <a:srgbClr val="67534F"/>
                </a:solidFill>
                <a:highlight>
                  <a:srgbClr val="F2F2E7"/>
                </a:highlight>
                <a:latin typeface="Consolas" pitchFamily="34" charset="0"/>
                <a:ea typeface="Consolas" pitchFamily="34" charset="-122"/>
                <a:cs typeface="Consolas" pitchFamily="34" charset="-120"/>
              </a:rPr>
              <a:t>("Processing ₹" + amount + " via Stripe");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public abstract class PaymentProcessor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public abstract PaymentGateway createGateway();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public void handlePayment(double amount) {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r>
              <a:rPr lang="en-US" sz="1000" dirty="0" err="1">
                <a:solidFill>
                  <a:srgbClr val="67534F"/>
                </a:solidFill>
                <a:highlight>
                  <a:srgbClr val="F2F2E7"/>
                </a:highlight>
                <a:latin typeface="Consolas" pitchFamily="34" charset="0"/>
                <a:ea typeface="Consolas" pitchFamily="34" charset="-122"/>
                <a:cs typeface="Consolas" pitchFamily="34" charset="-120"/>
              </a:rPr>
              <a:t>PaymentGateway</a:t>
            </a:r>
            <a:r>
              <a:rPr lang="en-US" sz="1000" dirty="0">
                <a:solidFill>
                  <a:srgbClr val="67534F"/>
                </a:solidFill>
                <a:highlight>
                  <a:srgbClr val="F2F2E7"/>
                </a:highlight>
                <a:latin typeface="Consolas" pitchFamily="34" charset="0"/>
                <a:ea typeface="Consolas" pitchFamily="34" charset="-122"/>
                <a:cs typeface="Consolas" pitchFamily="34" charset="-120"/>
              </a:rPr>
              <a:t> gateway = createGateway();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r>
              <a:rPr lang="en-US" sz="1000" dirty="0" err="1">
                <a:solidFill>
                  <a:srgbClr val="67534F"/>
                </a:solidFill>
                <a:highlight>
                  <a:srgbClr val="F2F2E7"/>
                </a:highlight>
                <a:latin typeface="Consolas" pitchFamily="34" charset="0"/>
                <a:ea typeface="Consolas" pitchFamily="34" charset="-122"/>
                <a:cs typeface="Consolas" pitchFamily="34" charset="-120"/>
              </a:rPr>
              <a:t>gateway.processPayment</a:t>
            </a:r>
            <a:r>
              <a:rPr lang="en-US" sz="1000" dirty="0">
                <a:solidFill>
                  <a:srgbClr val="67534F"/>
                </a:solidFill>
                <a:highlight>
                  <a:srgbClr val="F2F2E7"/>
                </a:highlight>
                <a:latin typeface="Consolas" pitchFamily="34" charset="0"/>
                <a:ea typeface="Consolas" pitchFamily="34" charset="-122"/>
                <a:cs typeface="Consolas" pitchFamily="34" charset="-120"/>
              </a:rPr>
              <a:t>(amount);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300"/>
              </a:lnSpc>
              <a:buNone/>
            </a:pPr>
            <a:r>
              <a:rPr lang="en-US" sz="1000" dirty="0">
                <a:solidFill>
                  <a:srgbClr val="67534F"/>
                </a:solidFill>
                <a:highlight>
                  <a:srgbClr val="F2F2E7"/>
                </a:highlight>
                <a:latin typeface="Consolas" pitchFamily="34" charset="0"/>
                <a:ea typeface="Consolas" pitchFamily="34" charset="-122"/>
                <a:cs typeface="Consolas" pitchFamily="34" charset="-120"/>
              </a:rPr>
              <a:t>}</a:t>
            </a:r>
            <a:endParaRPr lang="en-US" sz="1000" dirty="0"/>
          </a:p>
        </p:txBody>
      </p:sp>
      <p:pic>
        <p:nvPicPr>
          <p:cNvPr id="15" name="Picture 14">
            <a:extLst>
              <a:ext uri="{FF2B5EF4-FFF2-40B4-BE49-F238E27FC236}">
                <a16:creationId xmlns:a16="http://schemas.microsoft.com/office/drawing/2014/main" id="{ADD3F551-4CC2-D72A-0947-0B6EC26B820E}"/>
              </a:ext>
            </a:extLst>
          </p:cNvPr>
          <p:cNvPicPr>
            <a:picLocks noChangeAspect="1"/>
          </p:cNvPicPr>
          <p:nvPr/>
        </p:nvPicPr>
        <p:blipFill>
          <a:blip r:embed="rId3"/>
          <a:stretch>
            <a:fillRect/>
          </a:stretch>
        </p:blipFill>
        <p:spPr>
          <a:xfrm>
            <a:off x="12837334" y="7781097"/>
            <a:ext cx="1695687" cy="3524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5647" y="351592"/>
            <a:ext cx="8222218" cy="388501"/>
          </a:xfrm>
          <a:prstGeom prst="rect">
            <a:avLst/>
          </a:prstGeom>
          <a:noFill/>
          <a:ln/>
        </p:spPr>
        <p:txBody>
          <a:bodyPr wrap="none" lIns="0" tIns="0" rIns="0" bIns="0" rtlCol="0" anchor="t"/>
          <a:lstStyle/>
          <a:p>
            <a:pPr marL="0" indent="0" algn="l">
              <a:lnSpc>
                <a:spcPts val="3050"/>
              </a:lnSpc>
              <a:buNone/>
            </a:pPr>
            <a:r>
              <a:rPr lang="en-US" sz="2350" dirty="0">
                <a:solidFill>
                  <a:srgbClr val="532418"/>
                </a:solidFill>
                <a:latin typeface="Marcellus" pitchFamily="34" charset="0"/>
                <a:ea typeface="Marcellus" pitchFamily="34" charset="-122"/>
                <a:cs typeface="Marcellus" pitchFamily="34" charset="-120"/>
              </a:rPr>
              <a:t>Abstract Factory Pattern: Building Families of Related Objects</a:t>
            </a:r>
            <a:endParaRPr lang="en-US" sz="2350" dirty="0"/>
          </a:p>
        </p:txBody>
      </p:sp>
      <p:sp>
        <p:nvSpPr>
          <p:cNvPr id="3" name="Text 1"/>
          <p:cNvSpPr/>
          <p:nvPr/>
        </p:nvSpPr>
        <p:spPr>
          <a:xfrm>
            <a:off x="415647" y="947857"/>
            <a:ext cx="103823"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arcellus Light" pitchFamily="34" charset="0"/>
                <a:ea typeface="Marcellus Light" pitchFamily="34" charset="-122"/>
                <a:cs typeface="Marcellus Light" pitchFamily="34" charset="-120"/>
              </a:rPr>
              <a:t>01</a:t>
            </a:r>
            <a:endParaRPr lang="en-US" sz="800" dirty="0"/>
          </a:p>
        </p:txBody>
      </p:sp>
      <p:sp>
        <p:nvSpPr>
          <p:cNvPr id="4" name="Shape 2"/>
          <p:cNvSpPr/>
          <p:nvPr/>
        </p:nvSpPr>
        <p:spPr>
          <a:xfrm>
            <a:off x="415647" y="1114306"/>
            <a:ext cx="6847642" cy="15240"/>
          </a:xfrm>
          <a:prstGeom prst="rect">
            <a:avLst/>
          </a:prstGeom>
          <a:solidFill>
            <a:srgbClr val="FF954F"/>
          </a:solidFill>
          <a:ln/>
        </p:spPr>
        <p:txBody>
          <a:bodyPr/>
          <a:lstStyle/>
          <a:p>
            <a:endParaRPr lang="en-GB"/>
          </a:p>
        </p:txBody>
      </p:sp>
      <p:sp>
        <p:nvSpPr>
          <p:cNvPr id="5" name="Text 3"/>
          <p:cNvSpPr/>
          <p:nvPr/>
        </p:nvSpPr>
        <p:spPr>
          <a:xfrm>
            <a:off x="415647" y="1196697"/>
            <a:ext cx="1675924" cy="194191"/>
          </a:xfrm>
          <a:prstGeom prst="rect">
            <a:avLst/>
          </a:prstGeom>
          <a:noFill/>
          <a:ln/>
        </p:spPr>
        <p:txBody>
          <a:bodyPr wrap="none" lIns="0" tIns="0" rIns="0" bIns="0" rtlCol="0" anchor="t"/>
          <a:lstStyle/>
          <a:p>
            <a:pPr marL="0" indent="0" algn="l">
              <a:lnSpc>
                <a:spcPts val="1500"/>
              </a:lnSpc>
              <a:buNone/>
            </a:pPr>
            <a:r>
              <a:rPr lang="en-US" sz="1150" dirty="0">
                <a:solidFill>
                  <a:srgbClr val="67534F"/>
                </a:solidFill>
                <a:latin typeface="Marcellus" pitchFamily="34" charset="0"/>
                <a:ea typeface="Marcellus" pitchFamily="34" charset="-122"/>
                <a:cs typeface="Marcellus" pitchFamily="34" charset="-120"/>
              </a:rPr>
              <a:t>Define Abstract Products</a:t>
            </a:r>
            <a:endParaRPr lang="en-US" sz="1150" dirty="0"/>
          </a:p>
        </p:txBody>
      </p:sp>
      <p:sp>
        <p:nvSpPr>
          <p:cNvPr id="6" name="Text 4"/>
          <p:cNvSpPr/>
          <p:nvPr/>
        </p:nvSpPr>
        <p:spPr>
          <a:xfrm>
            <a:off x="415647" y="1453158"/>
            <a:ext cx="6847642"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ontserrat" pitchFamily="34" charset="0"/>
                <a:ea typeface="Montserrat" pitchFamily="34" charset="-122"/>
                <a:cs typeface="Montserrat" pitchFamily="34" charset="-120"/>
              </a:rPr>
              <a:t>Create interfaces for each type of product in the family</a:t>
            </a:r>
            <a:endParaRPr lang="en-US" sz="800" dirty="0"/>
          </a:p>
        </p:txBody>
      </p:sp>
      <p:sp>
        <p:nvSpPr>
          <p:cNvPr id="7" name="Text 5"/>
          <p:cNvSpPr/>
          <p:nvPr/>
        </p:nvSpPr>
        <p:spPr>
          <a:xfrm>
            <a:off x="7367111" y="947857"/>
            <a:ext cx="103823"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arcellus Light" pitchFamily="34" charset="0"/>
                <a:ea typeface="Marcellus Light" pitchFamily="34" charset="-122"/>
                <a:cs typeface="Marcellus Light" pitchFamily="34" charset="-120"/>
              </a:rPr>
              <a:t>02</a:t>
            </a:r>
            <a:endParaRPr lang="en-US" sz="800" dirty="0"/>
          </a:p>
        </p:txBody>
      </p:sp>
      <p:sp>
        <p:nvSpPr>
          <p:cNvPr id="8" name="Shape 6"/>
          <p:cNvSpPr/>
          <p:nvPr/>
        </p:nvSpPr>
        <p:spPr>
          <a:xfrm>
            <a:off x="7367111" y="1114306"/>
            <a:ext cx="6847642" cy="15240"/>
          </a:xfrm>
          <a:prstGeom prst="rect">
            <a:avLst/>
          </a:prstGeom>
          <a:solidFill>
            <a:srgbClr val="FF954F"/>
          </a:solidFill>
          <a:ln/>
        </p:spPr>
        <p:txBody>
          <a:bodyPr/>
          <a:lstStyle/>
          <a:p>
            <a:endParaRPr lang="en-GB"/>
          </a:p>
        </p:txBody>
      </p:sp>
      <p:sp>
        <p:nvSpPr>
          <p:cNvPr id="9" name="Text 7"/>
          <p:cNvSpPr/>
          <p:nvPr/>
        </p:nvSpPr>
        <p:spPr>
          <a:xfrm>
            <a:off x="7367111" y="1196697"/>
            <a:ext cx="1759387" cy="194191"/>
          </a:xfrm>
          <a:prstGeom prst="rect">
            <a:avLst/>
          </a:prstGeom>
          <a:noFill/>
          <a:ln/>
        </p:spPr>
        <p:txBody>
          <a:bodyPr wrap="none" lIns="0" tIns="0" rIns="0" bIns="0" rtlCol="0" anchor="t"/>
          <a:lstStyle/>
          <a:p>
            <a:pPr marL="0" indent="0" algn="l">
              <a:lnSpc>
                <a:spcPts val="1500"/>
              </a:lnSpc>
              <a:buNone/>
            </a:pPr>
            <a:r>
              <a:rPr lang="en-US" sz="1150" dirty="0">
                <a:solidFill>
                  <a:srgbClr val="67534F"/>
                </a:solidFill>
                <a:latin typeface="Marcellus" pitchFamily="34" charset="0"/>
                <a:ea typeface="Marcellus" pitchFamily="34" charset="-122"/>
                <a:cs typeface="Marcellus" pitchFamily="34" charset="-120"/>
              </a:rPr>
              <a:t>Create Concrete Products</a:t>
            </a:r>
            <a:endParaRPr lang="en-US" sz="1150" dirty="0"/>
          </a:p>
        </p:txBody>
      </p:sp>
      <p:sp>
        <p:nvSpPr>
          <p:cNvPr id="10" name="Text 8"/>
          <p:cNvSpPr/>
          <p:nvPr/>
        </p:nvSpPr>
        <p:spPr>
          <a:xfrm>
            <a:off x="7367111" y="1453158"/>
            <a:ext cx="6847642"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ontserrat" pitchFamily="34" charset="0"/>
                <a:ea typeface="Montserrat" pitchFamily="34" charset="-122"/>
                <a:cs typeface="Montserrat" pitchFamily="34" charset="-120"/>
              </a:rPr>
              <a:t>Implement product variants for each family</a:t>
            </a:r>
            <a:endParaRPr lang="en-US" sz="800" dirty="0"/>
          </a:p>
        </p:txBody>
      </p:sp>
      <p:sp>
        <p:nvSpPr>
          <p:cNvPr id="11" name="Text 9"/>
          <p:cNvSpPr/>
          <p:nvPr/>
        </p:nvSpPr>
        <p:spPr>
          <a:xfrm>
            <a:off x="415647" y="1769864"/>
            <a:ext cx="103823"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arcellus Light" pitchFamily="34" charset="0"/>
                <a:ea typeface="Marcellus Light" pitchFamily="34" charset="-122"/>
                <a:cs typeface="Marcellus Light" pitchFamily="34" charset="-120"/>
              </a:rPr>
              <a:t>03</a:t>
            </a:r>
            <a:endParaRPr lang="en-US" sz="800" dirty="0"/>
          </a:p>
        </p:txBody>
      </p:sp>
      <p:sp>
        <p:nvSpPr>
          <p:cNvPr id="12" name="Shape 10"/>
          <p:cNvSpPr/>
          <p:nvPr/>
        </p:nvSpPr>
        <p:spPr>
          <a:xfrm>
            <a:off x="415647" y="1936313"/>
            <a:ext cx="6847642" cy="15240"/>
          </a:xfrm>
          <a:prstGeom prst="rect">
            <a:avLst/>
          </a:prstGeom>
          <a:solidFill>
            <a:srgbClr val="FF954F"/>
          </a:solidFill>
          <a:ln/>
        </p:spPr>
        <p:txBody>
          <a:bodyPr/>
          <a:lstStyle/>
          <a:p>
            <a:endParaRPr lang="en-GB"/>
          </a:p>
        </p:txBody>
      </p:sp>
      <p:sp>
        <p:nvSpPr>
          <p:cNvPr id="13" name="Text 11"/>
          <p:cNvSpPr/>
          <p:nvPr/>
        </p:nvSpPr>
        <p:spPr>
          <a:xfrm>
            <a:off x="415647" y="2018705"/>
            <a:ext cx="1588651" cy="194191"/>
          </a:xfrm>
          <a:prstGeom prst="rect">
            <a:avLst/>
          </a:prstGeom>
          <a:noFill/>
          <a:ln/>
        </p:spPr>
        <p:txBody>
          <a:bodyPr wrap="none" lIns="0" tIns="0" rIns="0" bIns="0" rtlCol="0" anchor="t"/>
          <a:lstStyle/>
          <a:p>
            <a:pPr marL="0" indent="0" algn="l">
              <a:lnSpc>
                <a:spcPts val="1500"/>
              </a:lnSpc>
              <a:buNone/>
            </a:pPr>
            <a:r>
              <a:rPr lang="en-US" sz="1150" dirty="0">
                <a:solidFill>
                  <a:srgbClr val="67534F"/>
                </a:solidFill>
                <a:latin typeface="Marcellus" pitchFamily="34" charset="0"/>
                <a:ea typeface="Marcellus" pitchFamily="34" charset="-122"/>
                <a:cs typeface="Marcellus" pitchFamily="34" charset="-120"/>
              </a:rPr>
              <a:t>Define Abstract Factory</a:t>
            </a:r>
            <a:endParaRPr lang="en-US" sz="1150" dirty="0"/>
          </a:p>
        </p:txBody>
      </p:sp>
      <p:sp>
        <p:nvSpPr>
          <p:cNvPr id="14" name="Text 12"/>
          <p:cNvSpPr/>
          <p:nvPr/>
        </p:nvSpPr>
        <p:spPr>
          <a:xfrm>
            <a:off x="415647" y="2275165"/>
            <a:ext cx="6847642"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ontserrat" pitchFamily="34" charset="0"/>
                <a:ea typeface="Montserrat" pitchFamily="34" charset="-122"/>
                <a:cs typeface="Montserrat" pitchFamily="34" charset="-120"/>
              </a:rPr>
              <a:t>Declare creation methods for all product types</a:t>
            </a:r>
            <a:endParaRPr lang="en-US" sz="800" dirty="0"/>
          </a:p>
        </p:txBody>
      </p:sp>
      <p:sp>
        <p:nvSpPr>
          <p:cNvPr id="15" name="Text 13"/>
          <p:cNvSpPr/>
          <p:nvPr/>
        </p:nvSpPr>
        <p:spPr>
          <a:xfrm>
            <a:off x="7367111" y="1769864"/>
            <a:ext cx="103823"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arcellus Light" pitchFamily="34" charset="0"/>
                <a:ea typeface="Marcellus Light" pitchFamily="34" charset="-122"/>
                <a:cs typeface="Marcellus Light" pitchFamily="34" charset="-120"/>
              </a:rPr>
              <a:t>04</a:t>
            </a:r>
            <a:endParaRPr lang="en-US" sz="800" dirty="0"/>
          </a:p>
        </p:txBody>
      </p:sp>
      <p:sp>
        <p:nvSpPr>
          <p:cNvPr id="16" name="Shape 14"/>
          <p:cNvSpPr/>
          <p:nvPr/>
        </p:nvSpPr>
        <p:spPr>
          <a:xfrm>
            <a:off x="7367111" y="1936313"/>
            <a:ext cx="6847642" cy="15240"/>
          </a:xfrm>
          <a:prstGeom prst="rect">
            <a:avLst/>
          </a:prstGeom>
          <a:solidFill>
            <a:srgbClr val="FF954F"/>
          </a:solidFill>
          <a:ln/>
        </p:spPr>
        <p:txBody>
          <a:bodyPr/>
          <a:lstStyle/>
          <a:p>
            <a:endParaRPr lang="en-GB"/>
          </a:p>
        </p:txBody>
      </p:sp>
      <p:sp>
        <p:nvSpPr>
          <p:cNvPr id="17" name="Text 15"/>
          <p:cNvSpPr/>
          <p:nvPr/>
        </p:nvSpPr>
        <p:spPr>
          <a:xfrm>
            <a:off x="7367111" y="2018705"/>
            <a:ext cx="2040374" cy="194191"/>
          </a:xfrm>
          <a:prstGeom prst="rect">
            <a:avLst/>
          </a:prstGeom>
          <a:noFill/>
          <a:ln/>
        </p:spPr>
        <p:txBody>
          <a:bodyPr wrap="none" lIns="0" tIns="0" rIns="0" bIns="0" rtlCol="0" anchor="t"/>
          <a:lstStyle/>
          <a:p>
            <a:pPr marL="0" indent="0" algn="l">
              <a:lnSpc>
                <a:spcPts val="1500"/>
              </a:lnSpc>
              <a:buNone/>
            </a:pPr>
            <a:r>
              <a:rPr lang="en-US" sz="1150" dirty="0">
                <a:solidFill>
                  <a:srgbClr val="67534F"/>
                </a:solidFill>
                <a:latin typeface="Marcellus" pitchFamily="34" charset="0"/>
                <a:ea typeface="Marcellus" pitchFamily="34" charset="-122"/>
                <a:cs typeface="Marcellus" pitchFamily="34" charset="-120"/>
              </a:rPr>
              <a:t>Implement Concrete Factories</a:t>
            </a:r>
            <a:endParaRPr lang="en-US" sz="1150" dirty="0"/>
          </a:p>
        </p:txBody>
      </p:sp>
      <p:sp>
        <p:nvSpPr>
          <p:cNvPr id="18" name="Text 16"/>
          <p:cNvSpPr/>
          <p:nvPr/>
        </p:nvSpPr>
        <p:spPr>
          <a:xfrm>
            <a:off x="7367111" y="2275165"/>
            <a:ext cx="6847642"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ontserrat" pitchFamily="34" charset="0"/>
                <a:ea typeface="Montserrat" pitchFamily="34" charset="-122"/>
                <a:cs typeface="Montserrat" pitchFamily="34" charset="-120"/>
              </a:rPr>
              <a:t>Each factory produces one complete product family</a:t>
            </a:r>
            <a:endParaRPr lang="en-US" sz="800" dirty="0"/>
          </a:p>
        </p:txBody>
      </p:sp>
      <p:sp>
        <p:nvSpPr>
          <p:cNvPr id="19" name="Text 17"/>
          <p:cNvSpPr/>
          <p:nvPr/>
        </p:nvSpPr>
        <p:spPr>
          <a:xfrm>
            <a:off x="415647" y="2604968"/>
            <a:ext cx="13799106" cy="270034"/>
          </a:xfrm>
          <a:prstGeom prst="rect">
            <a:avLst/>
          </a:prstGeom>
          <a:noFill/>
          <a:ln/>
        </p:spPr>
        <p:txBody>
          <a:bodyPr wrap="square" lIns="0" tIns="0" rIns="0" bIns="0" rtlCol="0" anchor="t"/>
          <a:lstStyle/>
          <a:p>
            <a:pPr marL="0" indent="0" algn="l">
              <a:lnSpc>
                <a:spcPts val="1050"/>
              </a:lnSpc>
              <a:buNone/>
            </a:pPr>
            <a:r>
              <a:rPr lang="en-US" sz="800" dirty="0">
                <a:solidFill>
                  <a:srgbClr val="67534F"/>
                </a:solidFill>
                <a:latin typeface="Montserrat" pitchFamily="34" charset="0"/>
                <a:ea typeface="Montserrat" pitchFamily="34" charset="-122"/>
                <a:cs typeface="Montserrat" pitchFamily="34" charset="-120"/>
              </a:rPr>
              <a:t>The Abstract Factory pattern provides an interface for creating families of related or dependent objects without specifying their concrete classes. It's particularly useful when your system needs to work with multiple families of products, and you want to ensure products from the same family are used together.</a:t>
            </a:r>
            <a:endParaRPr lang="en-US" sz="800" dirty="0"/>
          </a:p>
        </p:txBody>
      </p:sp>
      <p:sp>
        <p:nvSpPr>
          <p:cNvPr id="20" name="Text 18"/>
          <p:cNvSpPr/>
          <p:nvPr/>
        </p:nvSpPr>
        <p:spPr>
          <a:xfrm>
            <a:off x="415647" y="3030855"/>
            <a:ext cx="2534007" cy="233005"/>
          </a:xfrm>
          <a:prstGeom prst="rect">
            <a:avLst/>
          </a:prstGeom>
          <a:noFill/>
          <a:ln/>
        </p:spPr>
        <p:txBody>
          <a:bodyPr wrap="none" lIns="0" tIns="0" rIns="0" bIns="0" rtlCol="0" anchor="t"/>
          <a:lstStyle/>
          <a:p>
            <a:pPr marL="0" indent="0" algn="l">
              <a:lnSpc>
                <a:spcPts val="1800"/>
              </a:lnSpc>
              <a:buNone/>
            </a:pPr>
            <a:r>
              <a:rPr lang="en-US" sz="1400" dirty="0">
                <a:solidFill>
                  <a:srgbClr val="532418"/>
                </a:solidFill>
                <a:latin typeface="Marcellus" pitchFamily="34" charset="0"/>
                <a:ea typeface="Marcellus" pitchFamily="34" charset="-122"/>
                <a:cs typeface="Marcellus" pitchFamily="34" charset="-120"/>
              </a:rPr>
              <a:t>UI Component Library Example</a:t>
            </a:r>
            <a:endParaRPr lang="en-US" sz="1400" dirty="0"/>
          </a:p>
        </p:txBody>
      </p:sp>
      <p:sp>
        <p:nvSpPr>
          <p:cNvPr id="21" name="Shape 19"/>
          <p:cNvSpPr/>
          <p:nvPr/>
        </p:nvSpPr>
        <p:spPr>
          <a:xfrm>
            <a:off x="415647" y="3419713"/>
            <a:ext cx="13799106" cy="4206240"/>
          </a:xfrm>
          <a:prstGeom prst="roundRect">
            <a:avLst>
              <a:gd name="adj" fmla="val 1038"/>
            </a:avLst>
          </a:prstGeom>
          <a:solidFill>
            <a:srgbClr val="F2F2E7"/>
          </a:solidFill>
          <a:ln/>
        </p:spPr>
        <p:txBody>
          <a:bodyPr/>
          <a:lstStyle/>
          <a:p>
            <a:endParaRPr lang="en-GB"/>
          </a:p>
        </p:txBody>
      </p:sp>
      <p:sp>
        <p:nvSpPr>
          <p:cNvPr id="22" name="Shape 20"/>
          <p:cNvSpPr/>
          <p:nvPr/>
        </p:nvSpPr>
        <p:spPr>
          <a:xfrm>
            <a:off x="410528" y="3419713"/>
            <a:ext cx="13809345" cy="4206240"/>
          </a:xfrm>
          <a:prstGeom prst="roundRect">
            <a:avLst>
              <a:gd name="adj" fmla="val 371"/>
            </a:avLst>
          </a:prstGeom>
          <a:solidFill>
            <a:srgbClr val="F2F2E7"/>
          </a:solidFill>
          <a:ln/>
        </p:spPr>
        <p:txBody>
          <a:bodyPr/>
          <a:lstStyle/>
          <a:p>
            <a:endParaRPr lang="en-GB"/>
          </a:p>
        </p:txBody>
      </p:sp>
      <p:sp>
        <p:nvSpPr>
          <p:cNvPr id="23" name="Text 21"/>
          <p:cNvSpPr/>
          <p:nvPr/>
        </p:nvSpPr>
        <p:spPr>
          <a:xfrm>
            <a:off x="514350" y="3497580"/>
            <a:ext cx="13601700" cy="4050506"/>
          </a:xfrm>
          <a:prstGeom prst="rect">
            <a:avLst/>
          </a:prstGeom>
          <a:noFill/>
          <a:ln/>
        </p:spPr>
        <p:txBody>
          <a:bodyPr wrap="square" lIns="0" tIns="0" rIns="0" bIns="0" rtlCol="0" anchor="t"/>
          <a:lstStyle/>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public interface Button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void render();</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public interface Checkbox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void render();</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public interface GUIFactory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Button createButton();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Checkbox </a:t>
            </a:r>
            <a:r>
              <a:rPr lang="en-US" sz="800" dirty="0" err="1">
                <a:solidFill>
                  <a:srgbClr val="67534F"/>
                </a:solidFill>
                <a:highlight>
                  <a:srgbClr val="F2F2E7"/>
                </a:highlight>
                <a:latin typeface="Consolas" pitchFamily="34" charset="0"/>
                <a:ea typeface="Consolas" pitchFamily="34" charset="-122"/>
                <a:cs typeface="Consolas" pitchFamily="34" charset="-120"/>
              </a:rPr>
              <a:t>createCheckbox</a:t>
            </a:r>
            <a:r>
              <a:rPr lang="en-US" sz="8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public class WindowsFactory implements GUIFactory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public Button createButton()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return new WindowsButton();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public Checkbox createCheckbox()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return new WindowsCheckbox();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public class MacFactory implements GUIFactory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public Button createButton()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return new MacButton();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public Checkbox createCheckbox() {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return new MacCheckbox();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050"/>
              </a:lnSpc>
              <a:buNone/>
            </a:pPr>
            <a:r>
              <a:rPr lang="en-US" sz="800" dirty="0">
                <a:solidFill>
                  <a:srgbClr val="67534F"/>
                </a:solidFill>
                <a:highlight>
                  <a:srgbClr val="F2F2E7"/>
                </a:highlight>
                <a:latin typeface="Consolas" pitchFamily="34" charset="0"/>
                <a:ea typeface="Consolas" pitchFamily="34" charset="-122"/>
                <a:cs typeface="Consolas" pitchFamily="34" charset="-120"/>
              </a:rPr>
              <a:t>}</a:t>
            </a:r>
            <a:endParaRPr lang="en-US" sz="800" dirty="0"/>
          </a:p>
        </p:txBody>
      </p:sp>
      <p:sp>
        <p:nvSpPr>
          <p:cNvPr id="24" name="Text 22"/>
          <p:cNvSpPr/>
          <p:nvPr/>
        </p:nvSpPr>
        <p:spPr>
          <a:xfrm>
            <a:off x="415647" y="7742873"/>
            <a:ext cx="13799106" cy="135017"/>
          </a:xfrm>
          <a:prstGeom prst="rect">
            <a:avLst/>
          </a:prstGeom>
          <a:noFill/>
          <a:ln/>
        </p:spPr>
        <p:txBody>
          <a:bodyPr wrap="none" lIns="0" tIns="0" rIns="0" bIns="0" rtlCol="0" anchor="t"/>
          <a:lstStyle/>
          <a:p>
            <a:pPr marL="0" indent="0" algn="l">
              <a:lnSpc>
                <a:spcPts val="1050"/>
              </a:lnSpc>
              <a:buNone/>
            </a:pPr>
            <a:r>
              <a:rPr lang="en-US" sz="800" dirty="0">
                <a:solidFill>
                  <a:srgbClr val="67534F"/>
                </a:solidFill>
                <a:latin typeface="Montserrat" pitchFamily="34" charset="0"/>
                <a:ea typeface="Montserrat" pitchFamily="34" charset="-122"/>
                <a:cs typeface="Montserrat" pitchFamily="34" charset="-120"/>
              </a:rPr>
              <a:t>This pattern ensures that when you use a Windows factory, you get Windows-styled buttons and checkboxes. When you switch to a Mac factory, all components automatically adopt the Mac styling, maintaining consistency across your UI.</a:t>
            </a:r>
            <a:endParaRPr lang="en-US" sz="800" dirty="0"/>
          </a:p>
        </p:txBody>
      </p:sp>
      <p:pic>
        <p:nvPicPr>
          <p:cNvPr id="25" name="Picture 24">
            <a:extLst>
              <a:ext uri="{FF2B5EF4-FFF2-40B4-BE49-F238E27FC236}">
                <a16:creationId xmlns:a16="http://schemas.microsoft.com/office/drawing/2014/main" id="{438B8327-73A0-FAEF-CAE3-B90E894CD6D3}"/>
              </a:ext>
            </a:extLst>
          </p:cNvPr>
          <p:cNvPicPr>
            <a:picLocks noChangeAspect="1"/>
          </p:cNvPicPr>
          <p:nvPr/>
        </p:nvPicPr>
        <p:blipFill>
          <a:blip r:embed="rId3"/>
          <a:stretch>
            <a:fillRect/>
          </a:stretch>
        </p:blipFill>
        <p:spPr>
          <a:xfrm>
            <a:off x="12837334" y="7781097"/>
            <a:ext cx="1695687" cy="3524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8DE298-0B71-8B83-EEEB-A76E7C4BD5D3}"/>
              </a:ext>
            </a:extLst>
          </p:cNvPr>
          <p:cNvSpPr txBox="1"/>
          <p:nvPr/>
        </p:nvSpPr>
        <p:spPr>
          <a:xfrm>
            <a:off x="3657600" y="827339"/>
            <a:ext cx="7315200" cy="461665"/>
          </a:xfrm>
          <a:prstGeom prst="rect">
            <a:avLst/>
          </a:prstGeom>
          <a:noFill/>
        </p:spPr>
        <p:txBody>
          <a:bodyPr wrap="square">
            <a:spAutoFit/>
          </a:bodyPr>
          <a:lstStyle/>
          <a:p>
            <a:r>
              <a:rPr lang="en-GB" sz="2400" dirty="0"/>
              <a:t>Comparison: Factory Method vs. Abstract Factory</a:t>
            </a:r>
          </a:p>
        </p:txBody>
      </p:sp>
      <p:sp>
        <p:nvSpPr>
          <p:cNvPr id="5" name="TextBox 4">
            <a:extLst>
              <a:ext uri="{FF2B5EF4-FFF2-40B4-BE49-F238E27FC236}">
                <a16:creationId xmlns:a16="http://schemas.microsoft.com/office/drawing/2014/main" id="{9B60179E-219C-0523-A091-033D18739523}"/>
              </a:ext>
            </a:extLst>
          </p:cNvPr>
          <p:cNvSpPr txBox="1"/>
          <p:nvPr/>
        </p:nvSpPr>
        <p:spPr>
          <a:xfrm>
            <a:off x="277402" y="3311504"/>
            <a:ext cx="7315200" cy="2031325"/>
          </a:xfrm>
          <a:prstGeom prst="rect">
            <a:avLst/>
          </a:prstGeom>
          <a:noFill/>
        </p:spPr>
        <p:txBody>
          <a:bodyPr wrap="square">
            <a:spAutoFit/>
          </a:bodyPr>
          <a:lstStyle/>
          <a:p>
            <a:r>
              <a:rPr lang="en-GB" b="1" dirty="0"/>
              <a:t>Factory Method:</a:t>
            </a:r>
            <a:r>
              <a:rPr lang="en-GB" dirty="0"/>
              <a:t> </a:t>
            </a:r>
          </a:p>
          <a:p>
            <a:r>
              <a:rPr lang="en-GB" b="1" dirty="0"/>
              <a:t>Focus:</a:t>
            </a:r>
            <a:r>
              <a:rPr lang="en-GB" dirty="0"/>
              <a:t> Creates a </a:t>
            </a:r>
            <a:r>
              <a:rPr lang="en-GB" b="1" dirty="0"/>
              <a:t>single product</a:t>
            </a:r>
            <a:r>
              <a:rPr lang="en-GB" dirty="0"/>
              <a:t> (e.g., a single type of weapon). </a:t>
            </a:r>
          </a:p>
          <a:p>
            <a:r>
              <a:rPr lang="en-GB" b="1" dirty="0"/>
              <a:t>Mechanism:</a:t>
            </a:r>
            <a:r>
              <a:rPr lang="en-GB" dirty="0"/>
              <a:t> Uses </a:t>
            </a:r>
            <a:r>
              <a:rPr lang="en-GB" b="1" dirty="0"/>
              <a:t>Inheritance</a:t>
            </a:r>
            <a:r>
              <a:rPr lang="en-GB" dirty="0"/>
              <a:t> (subclasses override the factory method). </a:t>
            </a:r>
            <a:r>
              <a:rPr lang="en-GB" b="1" dirty="0"/>
              <a:t>Flexibility:</a:t>
            </a:r>
            <a:r>
              <a:rPr lang="en-GB" dirty="0"/>
              <a:t> Easier to introduce </a:t>
            </a:r>
            <a:r>
              <a:rPr lang="en-GB" b="1" dirty="0"/>
              <a:t>new product types</a:t>
            </a:r>
            <a:r>
              <a:rPr lang="en-GB" dirty="0"/>
              <a:t> (just create a new subclass). </a:t>
            </a:r>
          </a:p>
          <a:p>
            <a:r>
              <a:rPr lang="en-GB" b="1" dirty="0"/>
              <a:t>When to Use:</a:t>
            </a:r>
            <a:r>
              <a:rPr lang="en-GB" dirty="0"/>
              <a:t> When you want subclasses to determine the exact type of object to create.</a:t>
            </a:r>
          </a:p>
        </p:txBody>
      </p:sp>
      <p:sp>
        <p:nvSpPr>
          <p:cNvPr id="7" name="TextBox 6">
            <a:extLst>
              <a:ext uri="{FF2B5EF4-FFF2-40B4-BE49-F238E27FC236}">
                <a16:creationId xmlns:a16="http://schemas.microsoft.com/office/drawing/2014/main" id="{78FF7C12-37BF-8ADD-7683-8B772292C4C6}"/>
              </a:ext>
            </a:extLst>
          </p:cNvPr>
          <p:cNvSpPr txBox="1"/>
          <p:nvPr/>
        </p:nvSpPr>
        <p:spPr>
          <a:xfrm>
            <a:off x="7315200" y="3311504"/>
            <a:ext cx="7315200" cy="2585323"/>
          </a:xfrm>
          <a:prstGeom prst="rect">
            <a:avLst/>
          </a:prstGeom>
          <a:noFill/>
        </p:spPr>
        <p:txBody>
          <a:bodyPr wrap="square">
            <a:spAutoFit/>
          </a:bodyPr>
          <a:lstStyle/>
          <a:p>
            <a:r>
              <a:rPr lang="en-GB" b="1" dirty="0"/>
              <a:t>Abstract Factory:</a:t>
            </a:r>
            <a:r>
              <a:rPr lang="en-GB" dirty="0"/>
              <a:t> </a:t>
            </a:r>
          </a:p>
          <a:p>
            <a:r>
              <a:rPr lang="en-GB" b="1" dirty="0"/>
              <a:t>Focus:</a:t>
            </a:r>
            <a:r>
              <a:rPr lang="en-GB" dirty="0"/>
              <a:t> Creates a </a:t>
            </a:r>
            <a:r>
              <a:rPr lang="en-GB" b="1" dirty="0"/>
              <a:t>family</a:t>
            </a:r>
            <a:r>
              <a:rPr lang="en-GB" dirty="0"/>
              <a:t> 👨‍👩‍👧‍👦 of related products (e.g., a set of components for a specific theme). </a:t>
            </a:r>
          </a:p>
          <a:p>
            <a:r>
              <a:rPr lang="en-GB" b="1" dirty="0"/>
              <a:t>Mechanism:</a:t>
            </a:r>
            <a:r>
              <a:rPr lang="en-GB" dirty="0"/>
              <a:t> Uses </a:t>
            </a:r>
            <a:r>
              <a:rPr lang="en-GB" b="1" dirty="0"/>
              <a:t>Composition</a:t>
            </a:r>
            <a:r>
              <a:rPr lang="en-GB" dirty="0"/>
              <a:t> (the client uses a factory object to create multiple products). </a:t>
            </a:r>
          </a:p>
          <a:p>
            <a:r>
              <a:rPr lang="en-GB" b="1" dirty="0"/>
              <a:t>Flexibility:</a:t>
            </a:r>
            <a:r>
              <a:rPr lang="en-GB" dirty="0"/>
              <a:t> Easier to introduce </a:t>
            </a:r>
            <a:r>
              <a:rPr lang="en-GB" b="1" dirty="0"/>
              <a:t>new product families</a:t>
            </a:r>
            <a:r>
              <a:rPr lang="en-GB" dirty="0"/>
              <a:t> (just create a new concrete factory). </a:t>
            </a:r>
          </a:p>
          <a:p>
            <a:r>
              <a:rPr lang="en-GB" b="1" dirty="0"/>
              <a:t>When to Use:</a:t>
            </a:r>
            <a:r>
              <a:rPr lang="en-GB" dirty="0"/>
              <a:t> When your code must work with different, but related, platforms or themes.</a:t>
            </a:r>
          </a:p>
        </p:txBody>
      </p:sp>
    </p:spTree>
    <p:extLst>
      <p:ext uri="{BB962C8B-B14F-4D97-AF65-F5344CB8AC3E}">
        <p14:creationId xmlns:p14="http://schemas.microsoft.com/office/powerpoint/2010/main" val="2948912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272891"/>
            <a:ext cx="7718227" cy="370761"/>
          </a:xfrm>
          <a:prstGeom prst="rect">
            <a:avLst/>
          </a:prstGeom>
          <a:noFill/>
          <a:ln/>
        </p:spPr>
        <p:txBody>
          <a:bodyPr wrap="non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Builder Pattern: Constructing Complex Objects Step by Step</a:t>
            </a:r>
            <a:endParaRPr lang="en-US" sz="2200" dirty="0"/>
          </a:p>
        </p:txBody>
      </p:sp>
      <p:sp>
        <p:nvSpPr>
          <p:cNvPr id="3" name="Shape 1"/>
          <p:cNvSpPr/>
          <p:nvPr/>
        </p:nvSpPr>
        <p:spPr>
          <a:xfrm>
            <a:off x="396835" y="842010"/>
            <a:ext cx="4546044" cy="1157883"/>
          </a:xfrm>
          <a:prstGeom prst="roundRect">
            <a:avLst>
              <a:gd name="adj" fmla="val 3600"/>
            </a:avLst>
          </a:prstGeom>
          <a:solidFill>
            <a:srgbClr val="FFFFF4">
              <a:alpha val="95000"/>
            </a:srgbClr>
          </a:solidFill>
          <a:ln w="15240">
            <a:solidFill>
              <a:srgbClr val="FFE0CC"/>
            </a:solidFill>
            <a:prstDash val="solid"/>
          </a:ln>
        </p:spPr>
        <p:txBody>
          <a:bodyPr/>
          <a:lstStyle/>
          <a:p>
            <a:endParaRPr lang="en-GB"/>
          </a:p>
        </p:txBody>
      </p:sp>
      <p:sp>
        <p:nvSpPr>
          <p:cNvPr id="4" name="Shape 2"/>
          <p:cNvSpPr/>
          <p:nvPr/>
        </p:nvSpPr>
        <p:spPr>
          <a:xfrm>
            <a:off x="412075" y="857250"/>
            <a:ext cx="4515564" cy="297656"/>
          </a:xfrm>
          <a:prstGeom prst="roundRect">
            <a:avLst>
              <a:gd name="adj" fmla="val 7859"/>
            </a:avLst>
          </a:prstGeom>
          <a:solidFill>
            <a:srgbClr val="FFFFF4"/>
          </a:solidFill>
          <a:ln/>
        </p:spPr>
        <p:txBody>
          <a:bodyPr/>
          <a:lstStyle/>
          <a:p>
            <a:endParaRPr lang="en-GB"/>
          </a:p>
        </p:txBody>
      </p:sp>
      <p:sp>
        <p:nvSpPr>
          <p:cNvPr id="5" name="Text 3"/>
          <p:cNvSpPr/>
          <p:nvPr/>
        </p:nvSpPr>
        <p:spPr>
          <a:xfrm>
            <a:off x="2595443" y="905470"/>
            <a:ext cx="148828" cy="193477"/>
          </a:xfrm>
          <a:prstGeom prst="rect">
            <a:avLst/>
          </a:prstGeom>
          <a:noFill/>
          <a:ln/>
        </p:spPr>
        <p:txBody>
          <a:bodyPr wrap="none" lIns="0" tIns="0" rIns="0" bIns="0" rtlCol="0" anchor="t"/>
          <a:lstStyle/>
          <a:p>
            <a:pPr marL="0" indent="0" algn="l">
              <a:lnSpc>
                <a:spcPts val="1150"/>
              </a:lnSpc>
              <a:buNone/>
            </a:pPr>
            <a:r>
              <a:rPr lang="en-US" sz="1150" dirty="0">
                <a:solidFill>
                  <a:srgbClr val="67534F"/>
                </a:solidFill>
                <a:latin typeface="Marcellus" pitchFamily="34" charset="0"/>
                <a:ea typeface="Marcellus" pitchFamily="34" charset="-122"/>
                <a:cs typeface="Marcellus" pitchFamily="34" charset="-120"/>
              </a:rPr>
              <a:t>1</a:t>
            </a:r>
            <a:endParaRPr lang="en-US" sz="1150" dirty="0"/>
          </a:p>
        </p:txBody>
      </p:sp>
      <p:sp>
        <p:nvSpPr>
          <p:cNvPr id="6" name="Text 4"/>
          <p:cNvSpPr/>
          <p:nvPr/>
        </p:nvSpPr>
        <p:spPr>
          <a:xfrm>
            <a:off x="511254" y="1254085"/>
            <a:ext cx="2146816" cy="185380"/>
          </a:xfrm>
          <a:prstGeom prst="rect">
            <a:avLst/>
          </a:prstGeom>
          <a:noFill/>
          <a:ln/>
        </p:spPr>
        <p:txBody>
          <a:bodyPr wrap="none" lIns="0" tIns="0" rIns="0" bIns="0" rtlCol="0" anchor="t"/>
          <a:lstStyle/>
          <a:p>
            <a:pPr marL="0" indent="0" algn="l">
              <a:lnSpc>
                <a:spcPts val="1450"/>
              </a:lnSpc>
              <a:buNone/>
            </a:pPr>
            <a:r>
              <a:rPr lang="en-US" sz="1100" dirty="0">
                <a:solidFill>
                  <a:srgbClr val="67534F"/>
                </a:solidFill>
                <a:latin typeface="Marcellus" pitchFamily="34" charset="0"/>
                <a:ea typeface="Marcellus" pitchFamily="34" charset="-122"/>
                <a:cs typeface="Marcellus" pitchFamily="34" charset="-120"/>
              </a:rPr>
              <a:t>Telescoping Constructor Problem</a:t>
            </a:r>
            <a:endParaRPr lang="en-US" sz="1100" dirty="0"/>
          </a:p>
        </p:txBody>
      </p:sp>
      <p:sp>
        <p:nvSpPr>
          <p:cNvPr id="7" name="Text 5"/>
          <p:cNvSpPr/>
          <p:nvPr/>
        </p:nvSpPr>
        <p:spPr>
          <a:xfrm>
            <a:off x="511254" y="1498997"/>
            <a:ext cx="4317206" cy="386477"/>
          </a:xfrm>
          <a:prstGeom prst="rect">
            <a:avLst/>
          </a:prstGeom>
          <a:noFill/>
          <a:ln/>
        </p:spPr>
        <p:txBody>
          <a:bodyPr wrap="square" lIns="0" tIns="0" rIns="0" bIns="0" rtlCol="0" anchor="t"/>
          <a:lstStyle/>
          <a:p>
            <a:pPr marL="0" indent="0" algn="l">
              <a:lnSpc>
                <a:spcPts val="1000"/>
              </a:lnSpc>
              <a:buNone/>
            </a:pPr>
            <a:r>
              <a:rPr lang="en-US" sz="750" dirty="0">
                <a:solidFill>
                  <a:srgbClr val="67534F"/>
                </a:solidFill>
                <a:latin typeface="Montserrat" pitchFamily="34" charset="0"/>
                <a:ea typeface="Montserrat" pitchFamily="34" charset="-122"/>
                <a:cs typeface="Montserrat" pitchFamily="34" charset="-120"/>
              </a:rPr>
              <a:t>Traditional constructors become unwieldy with many optional parameters. You end up with multiple constructor overloads or constructors with numerous null arguments, reducing code readability.</a:t>
            </a:r>
            <a:endParaRPr lang="en-US" sz="750" dirty="0"/>
          </a:p>
        </p:txBody>
      </p:sp>
      <p:sp>
        <p:nvSpPr>
          <p:cNvPr id="8" name="Shape 6"/>
          <p:cNvSpPr/>
          <p:nvPr/>
        </p:nvSpPr>
        <p:spPr>
          <a:xfrm>
            <a:off x="5042059" y="842010"/>
            <a:ext cx="4546163" cy="1157883"/>
          </a:xfrm>
          <a:prstGeom prst="roundRect">
            <a:avLst>
              <a:gd name="adj" fmla="val 3600"/>
            </a:avLst>
          </a:prstGeom>
          <a:solidFill>
            <a:srgbClr val="FFFFF4">
              <a:alpha val="95000"/>
            </a:srgbClr>
          </a:solidFill>
          <a:ln w="15240">
            <a:solidFill>
              <a:srgbClr val="FFE0CC"/>
            </a:solidFill>
            <a:prstDash val="solid"/>
          </a:ln>
        </p:spPr>
        <p:txBody>
          <a:bodyPr/>
          <a:lstStyle/>
          <a:p>
            <a:endParaRPr lang="en-GB"/>
          </a:p>
        </p:txBody>
      </p:sp>
      <p:sp>
        <p:nvSpPr>
          <p:cNvPr id="9" name="Shape 7"/>
          <p:cNvSpPr/>
          <p:nvPr/>
        </p:nvSpPr>
        <p:spPr>
          <a:xfrm>
            <a:off x="5057299" y="857250"/>
            <a:ext cx="4515683" cy="297656"/>
          </a:xfrm>
          <a:prstGeom prst="roundRect">
            <a:avLst>
              <a:gd name="adj" fmla="val 7859"/>
            </a:avLst>
          </a:prstGeom>
          <a:solidFill>
            <a:srgbClr val="FFFFF4"/>
          </a:solidFill>
          <a:ln/>
        </p:spPr>
        <p:txBody>
          <a:bodyPr/>
          <a:lstStyle/>
          <a:p>
            <a:endParaRPr lang="en-GB"/>
          </a:p>
        </p:txBody>
      </p:sp>
      <p:sp>
        <p:nvSpPr>
          <p:cNvPr id="10" name="Text 8"/>
          <p:cNvSpPr/>
          <p:nvPr/>
        </p:nvSpPr>
        <p:spPr>
          <a:xfrm>
            <a:off x="7240667" y="905470"/>
            <a:ext cx="148828" cy="193477"/>
          </a:xfrm>
          <a:prstGeom prst="rect">
            <a:avLst/>
          </a:prstGeom>
          <a:noFill/>
          <a:ln/>
        </p:spPr>
        <p:txBody>
          <a:bodyPr wrap="none" lIns="0" tIns="0" rIns="0" bIns="0" rtlCol="0" anchor="t"/>
          <a:lstStyle/>
          <a:p>
            <a:pPr marL="0" indent="0" algn="l">
              <a:lnSpc>
                <a:spcPts val="1150"/>
              </a:lnSpc>
              <a:buNone/>
            </a:pPr>
            <a:r>
              <a:rPr lang="en-US" sz="1150" dirty="0">
                <a:solidFill>
                  <a:srgbClr val="67534F"/>
                </a:solidFill>
                <a:latin typeface="Marcellus" pitchFamily="34" charset="0"/>
                <a:ea typeface="Marcellus" pitchFamily="34" charset="-122"/>
                <a:cs typeface="Marcellus" pitchFamily="34" charset="-120"/>
              </a:rPr>
              <a:t>2</a:t>
            </a:r>
            <a:endParaRPr lang="en-US" sz="1150" dirty="0"/>
          </a:p>
        </p:txBody>
      </p:sp>
      <p:sp>
        <p:nvSpPr>
          <p:cNvPr id="11" name="Text 9"/>
          <p:cNvSpPr/>
          <p:nvPr/>
        </p:nvSpPr>
        <p:spPr>
          <a:xfrm>
            <a:off x="5156478" y="1254085"/>
            <a:ext cx="1426488" cy="185380"/>
          </a:xfrm>
          <a:prstGeom prst="rect">
            <a:avLst/>
          </a:prstGeom>
          <a:noFill/>
          <a:ln/>
        </p:spPr>
        <p:txBody>
          <a:bodyPr wrap="none" lIns="0" tIns="0" rIns="0" bIns="0" rtlCol="0" anchor="t"/>
          <a:lstStyle/>
          <a:p>
            <a:pPr marL="0" indent="0" algn="l">
              <a:lnSpc>
                <a:spcPts val="1450"/>
              </a:lnSpc>
              <a:buNone/>
            </a:pPr>
            <a:r>
              <a:rPr lang="en-US" sz="1100" dirty="0">
                <a:solidFill>
                  <a:srgbClr val="67534F"/>
                </a:solidFill>
                <a:latin typeface="Marcellus" pitchFamily="34" charset="0"/>
                <a:ea typeface="Marcellus" pitchFamily="34" charset="-122"/>
                <a:cs typeface="Marcellus" pitchFamily="34" charset="-120"/>
              </a:rPr>
              <a:t>Builder Solution</a:t>
            </a:r>
            <a:endParaRPr lang="en-US" sz="1100" dirty="0"/>
          </a:p>
        </p:txBody>
      </p:sp>
      <p:sp>
        <p:nvSpPr>
          <p:cNvPr id="12" name="Text 10"/>
          <p:cNvSpPr/>
          <p:nvPr/>
        </p:nvSpPr>
        <p:spPr>
          <a:xfrm>
            <a:off x="5156478" y="1498997"/>
            <a:ext cx="4317325" cy="386477"/>
          </a:xfrm>
          <a:prstGeom prst="rect">
            <a:avLst/>
          </a:prstGeom>
          <a:noFill/>
          <a:ln/>
        </p:spPr>
        <p:txBody>
          <a:bodyPr wrap="square" lIns="0" tIns="0" rIns="0" bIns="0" rtlCol="0" anchor="t"/>
          <a:lstStyle/>
          <a:p>
            <a:pPr marL="0" indent="0" algn="l">
              <a:lnSpc>
                <a:spcPts val="1000"/>
              </a:lnSpc>
              <a:buNone/>
            </a:pPr>
            <a:r>
              <a:rPr lang="en-US" sz="750" dirty="0">
                <a:solidFill>
                  <a:srgbClr val="67534F"/>
                </a:solidFill>
                <a:latin typeface="Montserrat" pitchFamily="34" charset="0"/>
                <a:ea typeface="Montserrat" pitchFamily="34" charset="-122"/>
                <a:cs typeface="Montserrat" pitchFamily="34" charset="-120"/>
              </a:rPr>
              <a:t>The Builder pattern separates object construction from representation. It allows you to construct complex objects step by step, producing different types and representations using the same construction process.</a:t>
            </a:r>
            <a:endParaRPr lang="en-US" sz="750" dirty="0"/>
          </a:p>
        </p:txBody>
      </p:sp>
      <p:sp>
        <p:nvSpPr>
          <p:cNvPr id="13" name="Shape 11"/>
          <p:cNvSpPr/>
          <p:nvPr/>
        </p:nvSpPr>
        <p:spPr>
          <a:xfrm>
            <a:off x="9687401" y="842010"/>
            <a:ext cx="4546163" cy="1157883"/>
          </a:xfrm>
          <a:prstGeom prst="roundRect">
            <a:avLst>
              <a:gd name="adj" fmla="val 3600"/>
            </a:avLst>
          </a:prstGeom>
          <a:solidFill>
            <a:srgbClr val="FFFFF4">
              <a:alpha val="95000"/>
            </a:srgbClr>
          </a:solidFill>
          <a:ln w="15240">
            <a:solidFill>
              <a:srgbClr val="FFE0CC"/>
            </a:solidFill>
            <a:prstDash val="solid"/>
          </a:ln>
        </p:spPr>
        <p:txBody>
          <a:bodyPr/>
          <a:lstStyle/>
          <a:p>
            <a:endParaRPr lang="en-GB"/>
          </a:p>
        </p:txBody>
      </p:sp>
      <p:sp>
        <p:nvSpPr>
          <p:cNvPr id="14" name="Shape 12"/>
          <p:cNvSpPr/>
          <p:nvPr/>
        </p:nvSpPr>
        <p:spPr>
          <a:xfrm>
            <a:off x="9702641" y="857250"/>
            <a:ext cx="4515683" cy="297656"/>
          </a:xfrm>
          <a:prstGeom prst="roundRect">
            <a:avLst>
              <a:gd name="adj" fmla="val 7859"/>
            </a:avLst>
          </a:prstGeom>
          <a:solidFill>
            <a:srgbClr val="FFFFF4"/>
          </a:solidFill>
          <a:ln/>
        </p:spPr>
        <p:txBody>
          <a:bodyPr/>
          <a:lstStyle/>
          <a:p>
            <a:endParaRPr lang="en-GB"/>
          </a:p>
        </p:txBody>
      </p:sp>
      <p:sp>
        <p:nvSpPr>
          <p:cNvPr id="15" name="Text 13"/>
          <p:cNvSpPr/>
          <p:nvPr/>
        </p:nvSpPr>
        <p:spPr>
          <a:xfrm>
            <a:off x="11886009" y="905470"/>
            <a:ext cx="148828" cy="193477"/>
          </a:xfrm>
          <a:prstGeom prst="rect">
            <a:avLst/>
          </a:prstGeom>
          <a:noFill/>
          <a:ln/>
        </p:spPr>
        <p:txBody>
          <a:bodyPr wrap="none" lIns="0" tIns="0" rIns="0" bIns="0" rtlCol="0" anchor="t"/>
          <a:lstStyle/>
          <a:p>
            <a:pPr marL="0" indent="0" algn="l">
              <a:lnSpc>
                <a:spcPts val="1150"/>
              </a:lnSpc>
              <a:buNone/>
            </a:pPr>
            <a:r>
              <a:rPr lang="en-US" sz="1150" dirty="0">
                <a:solidFill>
                  <a:srgbClr val="67534F"/>
                </a:solidFill>
                <a:latin typeface="Marcellus" pitchFamily="34" charset="0"/>
                <a:ea typeface="Marcellus" pitchFamily="34" charset="-122"/>
                <a:cs typeface="Marcellus" pitchFamily="34" charset="-120"/>
              </a:rPr>
              <a:t>3</a:t>
            </a:r>
            <a:endParaRPr lang="en-US" sz="1150" dirty="0"/>
          </a:p>
        </p:txBody>
      </p:sp>
      <p:sp>
        <p:nvSpPr>
          <p:cNvPr id="16" name="Text 14"/>
          <p:cNvSpPr/>
          <p:nvPr/>
        </p:nvSpPr>
        <p:spPr>
          <a:xfrm>
            <a:off x="9801820" y="1254085"/>
            <a:ext cx="1426488" cy="185380"/>
          </a:xfrm>
          <a:prstGeom prst="rect">
            <a:avLst/>
          </a:prstGeom>
          <a:noFill/>
          <a:ln/>
        </p:spPr>
        <p:txBody>
          <a:bodyPr wrap="none" lIns="0" tIns="0" rIns="0" bIns="0" rtlCol="0" anchor="t"/>
          <a:lstStyle/>
          <a:p>
            <a:pPr marL="0" indent="0" algn="l">
              <a:lnSpc>
                <a:spcPts val="1450"/>
              </a:lnSpc>
              <a:buNone/>
            </a:pPr>
            <a:r>
              <a:rPr lang="en-US" sz="1100" dirty="0">
                <a:solidFill>
                  <a:srgbClr val="67534F"/>
                </a:solidFill>
                <a:latin typeface="Marcellus" pitchFamily="34" charset="0"/>
                <a:ea typeface="Marcellus" pitchFamily="34" charset="-122"/>
                <a:cs typeface="Marcellus" pitchFamily="34" charset="-120"/>
              </a:rPr>
              <a:t>Fluent Interface</a:t>
            </a:r>
            <a:endParaRPr lang="en-US" sz="1100" dirty="0"/>
          </a:p>
        </p:txBody>
      </p:sp>
      <p:sp>
        <p:nvSpPr>
          <p:cNvPr id="17" name="Text 15"/>
          <p:cNvSpPr/>
          <p:nvPr/>
        </p:nvSpPr>
        <p:spPr>
          <a:xfrm>
            <a:off x="9801820" y="1498997"/>
            <a:ext cx="4317325" cy="257651"/>
          </a:xfrm>
          <a:prstGeom prst="rect">
            <a:avLst/>
          </a:prstGeom>
          <a:noFill/>
          <a:ln/>
        </p:spPr>
        <p:txBody>
          <a:bodyPr wrap="square" lIns="0" tIns="0" rIns="0" bIns="0" rtlCol="0" anchor="t"/>
          <a:lstStyle/>
          <a:p>
            <a:pPr marL="0" indent="0" algn="l">
              <a:lnSpc>
                <a:spcPts val="1000"/>
              </a:lnSpc>
              <a:buNone/>
            </a:pPr>
            <a:r>
              <a:rPr lang="en-US" sz="750" dirty="0">
                <a:solidFill>
                  <a:srgbClr val="67534F"/>
                </a:solidFill>
                <a:latin typeface="Montserrat" pitchFamily="34" charset="0"/>
                <a:ea typeface="Montserrat" pitchFamily="34" charset="-122"/>
                <a:cs typeface="Montserrat" pitchFamily="34" charset="-120"/>
              </a:rPr>
              <a:t>Builders typically use method chaining for a more readable, intuitive API. Each setter method returns the builder itself, enabling a natural, sentence-like construction syntax.</a:t>
            </a:r>
            <a:endParaRPr lang="en-US" sz="750" dirty="0"/>
          </a:p>
        </p:txBody>
      </p:sp>
      <p:sp>
        <p:nvSpPr>
          <p:cNvPr id="18" name="Text 16"/>
          <p:cNvSpPr/>
          <p:nvPr/>
        </p:nvSpPr>
        <p:spPr>
          <a:xfrm>
            <a:off x="396835" y="2148721"/>
            <a:ext cx="2720102" cy="222528"/>
          </a:xfrm>
          <a:prstGeom prst="rect">
            <a:avLst/>
          </a:prstGeom>
          <a:noFill/>
          <a:ln/>
        </p:spPr>
        <p:txBody>
          <a:bodyPr wrap="none" lIns="0" tIns="0" rIns="0" bIns="0" rtlCol="0" anchor="t"/>
          <a:lstStyle/>
          <a:p>
            <a:pPr marL="0" indent="0" algn="l">
              <a:lnSpc>
                <a:spcPts val="1750"/>
              </a:lnSpc>
              <a:buNone/>
            </a:pPr>
            <a:r>
              <a:rPr lang="en-US" sz="1300" dirty="0">
                <a:solidFill>
                  <a:srgbClr val="532418"/>
                </a:solidFill>
                <a:latin typeface="Marcellus" pitchFamily="34" charset="0"/>
                <a:ea typeface="Marcellus" pitchFamily="34" charset="-122"/>
                <a:cs typeface="Marcellus" pitchFamily="34" charset="-120"/>
              </a:rPr>
              <a:t>Building a Computer Configuration</a:t>
            </a:r>
            <a:endParaRPr lang="en-US" sz="1300" dirty="0"/>
          </a:p>
        </p:txBody>
      </p:sp>
      <p:sp>
        <p:nvSpPr>
          <p:cNvPr id="19" name="Shape 17"/>
          <p:cNvSpPr/>
          <p:nvPr/>
        </p:nvSpPr>
        <p:spPr>
          <a:xfrm>
            <a:off x="396835" y="2520077"/>
            <a:ext cx="13836729" cy="5112192"/>
          </a:xfrm>
          <a:prstGeom prst="roundRect">
            <a:avLst>
              <a:gd name="adj" fmla="val 587"/>
            </a:avLst>
          </a:prstGeom>
          <a:solidFill>
            <a:srgbClr val="F2F2E7"/>
          </a:solidFill>
          <a:ln/>
        </p:spPr>
        <p:txBody>
          <a:bodyPr/>
          <a:lstStyle/>
          <a:p>
            <a:endParaRPr lang="en-GB"/>
          </a:p>
        </p:txBody>
      </p:sp>
      <p:sp>
        <p:nvSpPr>
          <p:cNvPr id="20" name="Shape 18"/>
          <p:cNvSpPr/>
          <p:nvPr/>
        </p:nvSpPr>
        <p:spPr>
          <a:xfrm>
            <a:off x="391954" y="2520077"/>
            <a:ext cx="13846493" cy="5261020"/>
          </a:xfrm>
          <a:prstGeom prst="roundRect">
            <a:avLst>
              <a:gd name="adj" fmla="val 209"/>
            </a:avLst>
          </a:prstGeom>
          <a:solidFill>
            <a:srgbClr val="F2F2E7"/>
          </a:solidFill>
          <a:ln/>
        </p:spPr>
        <p:txBody>
          <a:bodyPr/>
          <a:lstStyle/>
          <a:p>
            <a:endParaRPr lang="en-GB"/>
          </a:p>
        </p:txBody>
      </p:sp>
      <p:sp>
        <p:nvSpPr>
          <p:cNvPr id="21" name="Text 19"/>
          <p:cNvSpPr/>
          <p:nvPr/>
        </p:nvSpPr>
        <p:spPr>
          <a:xfrm>
            <a:off x="491133" y="2594491"/>
            <a:ext cx="13648134" cy="5037778"/>
          </a:xfrm>
          <a:prstGeom prst="rect">
            <a:avLst/>
          </a:prstGeom>
          <a:noFill/>
          <a:ln/>
        </p:spPr>
        <p:txBody>
          <a:bodyPr wrap="square" lIns="0" tIns="0" rIns="0" bIns="0" rtlCol="0" anchor="t"/>
          <a:lstStyle/>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public class Computer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CPU;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RAM;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storage;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GPU;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boolean bluetoothEnabled;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Computer(ComputerBuilder builder)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this.CPU</a:t>
            </a:r>
            <a:r>
              <a:rPr lang="en-US" sz="750" dirty="0">
                <a:solidFill>
                  <a:srgbClr val="67534F"/>
                </a:solidFill>
                <a:highlight>
                  <a:srgbClr val="F2F2E7"/>
                </a:highlight>
                <a:latin typeface="Consolas" pitchFamily="34" charset="0"/>
                <a:ea typeface="Consolas" pitchFamily="34" charset="-122"/>
                <a:cs typeface="Consolas" pitchFamily="34" charset="-120"/>
              </a:rPr>
              <a:t> = builder.CPU;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this.RAM</a:t>
            </a:r>
            <a:r>
              <a:rPr lang="en-US" sz="750" dirty="0">
                <a:solidFill>
                  <a:srgbClr val="67534F"/>
                </a:solidFill>
                <a:highlight>
                  <a:srgbClr val="F2F2E7"/>
                </a:highlight>
                <a:latin typeface="Consolas" pitchFamily="34" charset="0"/>
                <a:ea typeface="Consolas" pitchFamily="34" charset="-122"/>
                <a:cs typeface="Consolas" pitchFamily="34" charset="-120"/>
              </a:rPr>
              <a:t> = builder.RAM;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this.storage</a:t>
            </a:r>
            <a:r>
              <a:rPr lang="en-US" sz="750" dirty="0">
                <a:solidFill>
                  <a:srgbClr val="67534F"/>
                </a:solidFill>
                <a:highlight>
                  <a:srgbClr val="F2F2E7"/>
                </a:highlight>
                <a:latin typeface="Consolas" pitchFamily="34" charset="0"/>
                <a:ea typeface="Consolas" pitchFamily="34" charset="-122"/>
                <a:cs typeface="Consolas" pitchFamily="34" charset="-120"/>
              </a:rPr>
              <a:t> = builder.storage;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this.GPU</a:t>
            </a:r>
            <a:r>
              <a:rPr lang="en-US" sz="750" dirty="0">
                <a:solidFill>
                  <a:srgbClr val="67534F"/>
                </a:solidFill>
                <a:highlight>
                  <a:srgbClr val="F2F2E7"/>
                </a:highlight>
                <a:latin typeface="Consolas" pitchFamily="34" charset="0"/>
                <a:ea typeface="Consolas" pitchFamily="34" charset="-122"/>
                <a:cs typeface="Consolas" pitchFamily="34" charset="-120"/>
              </a:rPr>
              <a:t> = builder.GPU;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this.bluetoothEnabled</a:t>
            </a:r>
            <a:r>
              <a:rPr lang="en-US" sz="750" dirty="0">
                <a:solidFill>
                  <a:srgbClr val="67534F"/>
                </a:solidFill>
                <a:highlight>
                  <a:srgbClr val="F2F2E7"/>
                </a:highlight>
                <a:latin typeface="Consolas" pitchFamily="34" charset="0"/>
                <a:ea typeface="Consolas" pitchFamily="34" charset="-122"/>
                <a:cs typeface="Consolas" pitchFamily="34" charset="-120"/>
              </a:rPr>
              <a:t> = builder.bluetoothEnabled;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public static class ComputerBuilder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CPU;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RAM;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storage = "256GB SSD";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String GPU;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private boolean bluetoothEnabled = false;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public ComputerBuilder(String CPU, String RAM)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this.CPU</a:t>
            </a:r>
            <a:r>
              <a:rPr lang="en-US" sz="750" dirty="0">
                <a:solidFill>
                  <a:srgbClr val="67534F"/>
                </a:solidFill>
                <a:highlight>
                  <a:srgbClr val="F2F2E7"/>
                </a:highlight>
                <a:latin typeface="Consolas" pitchFamily="34" charset="0"/>
                <a:ea typeface="Consolas" pitchFamily="34" charset="-122"/>
                <a:cs typeface="Consolas" pitchFamily="34" charset="-120"/>
              </a:rPr>
              <a:t> = CPU; this.RAM = RAM;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public ComputerBuilder setStorage(String storage)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this.storage</a:t>
            </a:r>
            <a:r>
              <a:rPr lang="en-US" sz="750" dirty="0">
                <a:solidFill>
                  <a:srgbClr val="67534F"/>
                </a:solidFill>
                <a:highlight>
                  <a:srgbClr val="F2F2E7"/>
                </a:highlight>
                <a:latin typeface="Consolas" pitchFamily="34" charset="0"/>
                <a:ea typeface="Consolas" pitchFamily="34" charset="-122"/>
                <a:cs typeface="Consolas" pitchFamily="34" charset="-120"/>
              </a:rPr>
              <a:t> = storage; return this;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public ComputerBuilder setGPU(String GPU)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this.GPU</a:t>
            </a:r>
            <a:r>
              <a:rPr lang="en-US" sz="750" dirty="0">
                <a:solidFill>
                  <a:srgbClr val="67534F"/>
                </a:solidFill>
                <a:highlight>
                  <a:srgbClr val="F2F2E7"/>
                </a:highlight>
                <a:latin typeface="Consolas" pitchFamily="34" charset="0"/>
                <a:ea typeface="Consolas" pitchFamily="34" charset="-122"/>
                <a:cs typeface="Consolas" pitchFamily="34" charset="-120"/>
              </a:rPr>
              <a:t> = GPU; return this;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public ComputerBuilder enableBluetooth()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r>
              <a:rPr lang="en-US" sz="750" dirty="0" err="1">
                <a:solidFill>
                  <a:srgbClr val="67534F"/>
                </a:solidFill>
                <a:highlight>
                  <a:srgbClr val="F2F2E7"/>
                </a:highlight>
                <a:latin typeface="Consolas" pitchFamily="34" charset="0"/>
                <a:ea typeface="Consolas" pitchFamily="34" charset="-122"/>
                <a:cs typeface="Consolas" pitchFamily="34" charset="-120"/>
              </a:rPr>
              <a:t>this.bluetoothEnabled</a:t>
            </a:r>
            <a:r>
              <a:rPr lang="en-US" sz="750" dirty="0">
                <a:solidFill>
                  <a:srgbClr val="67534F"/>
                </a:solidFill>
                <a:highlight>
                  <a:srgbClr val="F2F2E7"/>
                </a:highlight>
                <a:latin typeface="Consolas" pitchFamily="34" charset="0"/>
                <a:ea typeface="Consolas" pitchFamily="34" charset="-122"/>
                <a:cs typeface="Consolas" pitchFamily="34" charset="-120"/>
              </a:rPr>
              <a:t> = true;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return this;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public Computer build() {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return new Computer(this);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a:t>
            </a:r>
          </a:p>
          <a:p>
            <a:pPr marL="0" indent="0" algn="l">
              <a:lnSpc>
                <a:spcPts val="1000"/>
              </a:lnSpc>
              <a:buNone/>
            </a:pPr>
            <a:r>
              <a:rPr lang="en-US" sz="750" dirty="0">
                <a:solidFill>
                  <a:srgbClr val="67534F"/>
                </a:solidFill>
                <a:highlight>
                  <a:srgbClr val="F2F2E7"/>
                </a:highlight>
                <a:latin typeface="Consolas" pitchFamily="34" charset="0"/>
                <a:ea typeface="Consolas" pitchFamily="34" charset="-122"/>
                <a:cs typeface="Consolas" pitchFamily="34" charset="-120"/>
              </a:rPr>
              <a:t>}    // UsageComputer gamingPC = new Computer.ComputerBuilder("Intel i9", "32GB") .setStorage("1TB NVMe SSD") .setGPU("NVIDIA RTX 4090") .enableBluetooth() .build();</a:t>
            </a:r>
            <a:endParaRPr lang="en-US" sz="750" dirty="0"/>
          </a:p>
        </p:txBody>
      </p:sp>
      <p:pic>
        <p:nvPicPr>
          <p:cNvPr id="22" name="Picture 21">
            <a:extLst>
              <a:ext uri="{FF2B5EF4-FFF2-40B4-BE49-F238E27FC236}">
                <a16:creationId xmlns:a16="http://schemas.microsoft.com/office/drawing/2014/main" id="{5159736A-3B86-06A1-F5D8-B0AE701752AF}"/>
              </a:ext>
            </a:extLst>
          </p:cNvPr>
          <p:cNvPicPr>
            <a:picLocks noChangeAspect="1"/>
          </p:cNvPicPr>
          <p:nvPr/>
        </p:nvPicPr>
        <p:blipFill>
          <a:blip r:embed="rId3"/>
          <a:stretch>
            <a:fillRect/>
          </a:stretch>
        </p:blipFill>
        <p:spPr>
          <a:xfrm>
            <a:off x="12837334" y="7781097"/>
            <a:ext cx="1695687" cy="3524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6835" y="272891"/>
            <a:ext cx="8540591" cy="370761"/>
          </a:xfrm>
          <a:prstGeom prst="rect">
            <a:avLst/>
          </a:prstGeom>
          <a:noFill/>
          <a:ln/>
        </p:spPr>
        <p:txBody>
          <a:bodyPr wrap="none" lIns="0" tIns="0" rIns="0" bIns="0" rtlCol="0" anchor="t"/>
          <a:lstStyle/>
          <a:p>
            <a:pPr marL="0" indent="0" algn="l">
              <a:lnSpc>
                <a:spcPts val="2900"/>
              </a:lnSpc>
              <a:buNone/>
            </a:pPr>
            <a:r>
              <a:rPr lang="en-US" sz="2200" dirty="0">
                <a:solidFill>
                  <a:srgbClr val="532418"/>
                </a:solidFill>
                <a:latin typeface="Marcellus" pitchFamily="34" charset="0"/>
                <a:ea typeface="Marcellus" pitchFamily="34" charset="-122"/>
                <a:cs typeface="Marcellus" pitchFamily="34" charset="-120"/>
              </a:rPr>
              <a:t>Prototype Pattern: Cloning Objects for Performance and Flexibility</a:t>
            </a:r>
            <a:endParaRPr lang="en-US" sz="2200" dirty="0"/>
          </a:p>
        </p:txBody>
      </p:sp>
      <p:sp>
        <p:nvSpPr>
          <p:cNvPr id="3" name="Text 1"/>
          <p:cNvSpPr/>
          <p:nvPr/>
        </p:nvSpPr>
        <p:spPr>
          <a:xfrm>
            <a:off x="396835" y="891659"/>
            <a:ext cx="1747957" cy="222528"/>
          </a:xfrm>
          <a:prstGeom prst="rect">
            <a:avLst/>
          </a:prstGeom>
          <a:noFill/>
          <a:ln/>
        </p:spPr>
        <p:txBody>
          <a:bodyPr wrap="none" lIns="0" tIns="0" rIns="0" bIns="0" rtlCol="0" anchor="t"/>
          <a:lstStyle/>
          <a:p>
            <a:pPr marL="0" indent="0" algn="l">
              <a:lnSpc>
                <a:spcPts val="1750"/>
              </a:lnSpc>
              <a:buNone/>
            </a:pPr>
            <a:r>
              <a:rPr lang="en-US" sz="1300" dirty="0">
                <a:solidFill>
                  <a:srgbClr val="532418"/>
                </a:solidFill>
                <a:latin typeface="Marcellus" pitchFamily="34" charset="0"/>
                <a:ea typeface="Marcellus" pitchFamily="34" charset="-122"/>
                <a:cs typeface="Marcellus" pitchFamily="34" charset="-120"/>
              </a:rPr>
              <a:t>The Cloning Approach</a:t>
            </a:r>
            <a:endParaRPr lang="en-US" sz="1300" dirty="0"/>
          </a:p>
        </p:txBody>
      </p:sp>
      <p:sp>
        <p:nvSpPr>
          <p:cNvPr id="4" name="Text 2"/>
          <p:cNvSpPr/>
          <p:nvPr/>
        </p:nvSpPr>
        <p:spPr>
          <a:xfrm>
            <a:off x="396835" y="1213366"/>
            <a:ext cx="6797397" cy="257651"/>
          </a:xfrm>
          <a:prstGeom prst="rect">
            <a:avLst/>
          </a:prstGeom>
          <a:noFill/>
          <a:ln/>
        </p:spPr>
        <p:txBody>
          <a:bodyPr wrap="square" lIns="0" tIns="0" rIns="0" bIns="0" rtlCol="0" anchor="t"/>
          <a:lstStyle/>
          <a:p>
            <a:pPr marL="0" indent="0" algn="l">
              <a:lnSpc>
                <a:spcPts val="1000"/>
              </a:lnSpc>
              <a:buNone/>
            </a:pPr>
            <a:r>
              <a:rPr lang="en-US" sz="750" dirty="0">
                <a:solidFill>
                  <a:srgbClr val="67534F"/>
                </a:solidFill>
                <a:latin typeface="Montserrat" pitchFamily="34" charset="0"/>
                <a:ea typeface="Montserrat" pitchFamily="34" charset="-122"/>
                <a:cs typeface="Montserrat" pitchFamily="34" charset="-120"/>
              </a:rPr>
              <a:t>The Prototype pattern creates new objects by copying existing ones rather than instantiating from scratch. This is particularly valuable when object creation is expensive—requiring database queries, complex calculations, or network calls.</a:t>
            </a:r>
            <a:endParaRPr lang="en-US" sz="750" dirty="0"/>
          </a:p>
        </p:txBody>
      </p:sp>
      <p:sp>
        <p:nvSpPr>
          <p:cNvPr id="5" name="Text 3"/>
          <p:cNvSpPr/>
          <p:nvPr/>
        </p:nvSpPr>
        <p:spPr>
          <a:xfrm>
            <a:off x="396835" y="1560314"/>
            <a:ext cx="6797397" cy="257651"/>
          </a:xfrm>
          <a:prstGeom prst="rect">
            <a:avLst/>
          </a:prstGeom>
          <a:noFill/>
          <a:ln/>
        </p:spPr>
        <p:txBody>
          <a:bodyPr wrap="square" lIns="0" tIns="0" rIns="0" bIns="0" rtlCol="0" anchor="t"/>
          <a:lstStyle/>
          <a:p>
            <a:pPr marL="0" indent="0" algn="l">
              <a:lnSpc>
                <a:spcPts val="1000"/>
              </a:lnSpc>
              <a:buNone/>
            </a:pPr>
            <a:r>
              <a:rPr lang="en-US" sz="750" dirty="0">
                <a:solidFill>
                  <a:srgbClr val="67534F"/>
                </a:solidFill>
                <a:latin typeface="Montserrat" pitchFamily="34" charset="0"/>
                <a:ea typeface="Montserrat" pitchFamily="34" charset="-122"/>
                <a:cs typeface="Montserrat" pitchFamily="34" charset="-120"/>
              </a:rPr>
              <a:t>Java provides the </a:t>
            </a:r>
            <a:r>
              <a:rPr lang="en-US" sz="750" dirty="0">
                <a:solidFill>
                  <a:srgbClr val="67534F"/>
                </a:solidFill>
                <a:highlight>
                  <a:srgbClr val="F2F2E7"/>
                </a:highlight>
                <a:latin typeface="Consolas" pitchFamily="34" charset="0"/>
                <a:ea typeface="Consolas" pitchFamily="34" charset="-122"/>
                <a:cs typeface="Consolas" pitchFamily="34" charset="-120"/>
              </a:rPr>
              <a:t>Cloneable</a:t>
            </a:r>
            <a:r>
              <a:rPr lang="en-US" sz="750" dirty="0">
                <a:solidFill>
                  <a:srgbClr val="67534F"/>
                </a:solidFill>
                <a:latin typeface="Montserrat" pitchFamily="34" charset="0"/>
                <a:ea typeface="Montserrat" pitchFamily="34" charset="-122"/>
                <a:cs typeface="Montserrat" pitchFamily="34" charset="-120"/>
              </a:rPr>
              <a:t> interface and </a:t>
            </a:r>
            <a:r>
              <a:rPr lang="en-US" sz="750" dirty="0">
                <a:solidFill>
                  <a:srgbClr val="67534F"/>
                </a:solidFill>
                <a:highlight>
                  <a:srgbClr val="F2F2E7"/>
                </a:highlight>
                <a:latin typeface="Consolas" pitchFamily="34" charset="0"/>
                <a:ea typeface="Consolas" pitchFamily="34" charset="-122"/>
                <a:cs typeface="Consolas" pitchFamily="34" charset="-120"/>
              </a:rPr>
              <a:t>clone()</a:t>
            </a:r>
            <a:r>
              <a:rPr lang="en-US" sz="750" dirty="0">
                <a:solidFill>
                  <a:srgbClr val="67534F"/>
                </a:solidFill>
                <a:latin typeface="Montserrat" pitchFamily="34" charset="0"/>
                <a:ea typeface="Montserrat" pitchFamily="34" charset="-122"/>
                <a:cs typeface="Montserrat" pitchFamily="34" charset="-120"/>
              </a:rPr>
              <a:t> method for this purpose. The pattern is especially useful when you need to create multiple objects with similar state, avoiding repeated expensive initialisation.</a:t>
            </a:r>
            <a:endParaRPr lang="en-US" sz="750" dirty="0"/>
          </a:p>
        </p:txBody>
      </p:sp>
      <p:pic>
        <p:nvPicPr>
          <p:cNvPr id="6" name="Image 0" descr="preencoded.png"/>
          <p:cNvPicPr>
            <a:picLocks noChangeAspect="1"/>
          </p:cNvPicPr>
          <p:nvPr/>
        </p:nvPicPr>
        <p:blipFill>
          <a:blip r:embed="rId3"/>
          <a:stretch>
            <a:fillRect/>
          </a:stretch>
        </p:blipFill>
        <p:spPr>
          <a:xfrm>
            <a:off x="396835" y="1929527"/>
            <a:ext cx="6351151" cy="6123383"/>
          </a:xfrm>
          <a:prstGeom prst="rect">
            <a:avLst/>
          </a:prstGeom>
        </p:spPr>
      </p:pic>
      <p:sp>
        <p:nvSpPr>
          <p:cNvPr id="7" name="Text 4"/>
          <p:cNvSpPr/>
          <p:nvPr/>
        </p:nvSpPr>
        <p:spPr>
          <a:xfrm>
            <a:off x="7443788" y="891659"/>
            <a:ext cx="1923455" cy="222528"/>
          </a:xfrm>
          <a:prstGeom prst="rect">
            <a:avLst/>
          </a:prstGeom>
          <a:noFill/>
          <a:ln/>
        </p:spPr>
        <p:txBody>
          <a:bodyPr wrap="none" lIns="0" tIns="0" rIns="0" bIns="0" rtlCol="0" anchor="t"/>
          <a:lstStyle/>
          <a:p>
            <a:pPr marL="0" indent="0" algn="l">
              <a:lnSpc>
                <a:spcPts val="1750"/>
              </a:lnSpc>
              <a:buNone/>
            </a:pPr>
            <a:r>
              <a:rPr lang="en-US" sz="1300" dirty="0">
                <a:solidFill>
                  <a:srgbClr val="532418"/>
                </a:solidFill>
                <a:latin typeface="Marcellus" pitchFamily="34" charset="0"/>
                <a:ea typeface="Marcellus" pitchFamily="34" charset="-122"/>
                <a:cs typeface="Marcellus" pitchFamily="34" charset="-120"/>
              </a:rPr>
              <a:t>Deep vs Shallow Copying</a:t>
            </a:r>
            <a:endParaRPr lang="en-US" sz="1300" dirty="0"/>
          </a:p>
        </p:txBody>
      </p:sp>
      <p:sp>
        <p:nvSpPr>
          <p:cNvPr id="8" name="Text 5"/>
          <p:cNvSpPr/>
          <p:nvPr/>
        </p:nvSpPr>
        <p:spPr>
          <a:xfrm>
            <a:off x="7443788" y="1213366"/>
            <a:ext cx="6797397" cy="257651"/>
          </a:xfrm>
          <a:prstGeom prst="rect">
            <a:avLst/>
          </a:prstGeom>
          <a:noFill/>
          <a:ln/>
        </p:spPr>
        <p:txBody>
          <a:bodyPr wrap="square" lIns="0" tIns="0" rIns="0" bIns="0" rtlCol="0" anchor="t"/>
          <a:lstStyle/>
          <a:p>
            <a:pPr marL="0" indent="0" algn="l">
              <a:lnSpc>
                <a:spcPts val="1000"/>
              </a:lnSpc>
              <a:buNone/>
            </a:pPr>
            <a:r>
              <a:rPr lang="en-US" sz="750" b="1" dirty="0">
                <a:solidFill>
                  <a:srgbClr val="67534F"/>
                </a:solidFill>
                <a:latin typeface="Montserrat" pitchFamily="34" charset="0"/>
                <a:ea typeface="Montserrat" pitchFamily="34" charset="-122"/>
                <a:cs typeface="Montserrat" pitchFamily="34" charset="-120"/>
              </a:rPr>
              <a:t>Shallow Copy:</a:t>
            </a:r>
            <a:r>
              <a:rPr lang="en-US" sz="750" dirty="0">
                <a:solidFill>
                  <a:srgbClr val="67534F"/>
                </a:solidFill>
                <a:latin typeface="Montserrat" pitchFamily="34" charset="0"/>
                <a:ea typeface="Montserrat" pitchFamily="34" charset="-122"/>
                <a:cs typeface="Montserrat" pitchFamily="34" charset="-120"/>
              </a:rPr>
              <a:t> Creates a new object but copies references to mutable objects. Changes to nested objects affect both the original and clone.</a:t>
            </a:r>
            <a:endParaRPr lang="en-US" sz="750" dirty="0"/>
          </a:p>
        </p:txBody>
      </p:sp>
      <p:sp>
        <p:nvSpPr>
          <p:cNvPr id="9" name="Text 6"/>
          <p:cNvSpPr/>
          <p:nvPr/>
        </p:nvSpPr>
        <p:spPr>
          <a:xfrm>
            <a:off x="7443788" y="1560314"/>
            <a:ext cx="6797397" cy="257651"/>
          </a:xfrm>
          <a:prstGeom prst="rect">
            <a:avLst/>
          </a:prstGeom>
          <a:noFill/>
          <a:ln/>
        </p:spPr>
        <p:txBody>
          <a:bodyPr wrap="square" lIns="0" tIns="0" rIns="0" bIns="0" rtlCol="0" anchor="t"/>
          <a:lstStyle/>
          <a:p>
            <a:pPr marL="0" indent="0" algn="l">
              <a:lnSpc>
                <a:spcPts val="1000"/>
              </a:lnSpc>
              <a:buNone/>
            </a:pPr>
            <a:r>
              <a:rPr lang="en-US" sz="750" b="1" dirty="0">
                <a:solidFill>
                  <a:srgbClr val="67534F"/>
                </a:solidFill>
                <a:latin typeface="Montserrat" pitchFamily="34" charset="0"/>
                <a:ea typeface="Montserrat" pitchFamily="34" charset="-122"/>
                <a:cs typeface="Montserrat" pitchFamily="34" charset="-120"/>
              </a:rPr>
              <a:t>Deep Copy:</a:t>
            </a:r>
            <a:r>
              <a:rPr lang="en-US" sz="750" dirty="0">
                <a:solidFill>
                  <a:srgbClr val="67534F"/>
                </a:solidFill>
                <a:latin typeface="Montserrat" pitchFamily="34" charset="0"/>
                <a:ea typeface="Montserrat" pitchFamily="34" charset="-122"/>
                <a:cs typeface="Montserrat" pitchFamily="34" charset="-120"/>
              </a:rPr>
              <a:t> Recursively copies all objects, creating completely independent clones. This requires more work but ensures true independence between objects.</a:t>
            </a:r>
            <a:endParaRPr lang="en-US" sz="750" dirty="0"/>
          </a:p>
        </p:txBody>
      </p:sp>
      <p:sp>
        <p:nvSpPr>
          <p:cNvPr id="10" name="Text 7"/>
          <p:cNvSpPr/>
          <p:nvPr/>
        </p:nvSpPr>
        <p:spPr>
          <a:xfrm>
            <a:off x="7443788" y="1917144"/>
            <a:ext cx="1426488" cy="185380"/>
          </a:xfrm>
          <a:prstGeom prst="rect">
            <a:avLst/>
          </a:prstGeom>
          <a:noFill/>
          <a:ln/>
        </p:spPr>
        <p:txBody>
          <a:bodyPr wrap="none" lIns="0" tIns="0" rIns="0" bIns="0" rtlCol="0" anchor="t"/>
          <a:lstStyle/>
          <a:p>
            <a:pPr marL="0" indent="0" algn="l">
              <a:lnSpc>
                <a:spcPts val="1450"/>
              </a:lnSpc>
              <a:buNone/>
            </a:pPr>
            <a:r>
              <a:rPr lang="en-US" sz="1100" dirty="0">
                <a:solidFill>
                  <a:srgbClr val="532418"/>
                </a:solidFill>
                <a:latin typeface="Marcellus" pitchFamily="34" charset="0"/>
                <a:ea typeface="Marcellus" pitchFamily="34" charset="-122"/>
                <a:cs typeface="Marcellus" pitchFamily="34" charset="-120"/>
              </a:rPr>
              <a:t>Performance Benefits</a:t>
            </a:r>
            <a:endParaRPr lang="en-US" sz="1100" dirty="0"/>
          </a:p>
        </p:txBody>
      </p:sp>
      <p:sp>
        <p:nvSpPr>
          <p:cNvPr id="11" name="Text 8"/>
          <p:cNvSpPr/>
          <p:nvPr/>
        </p:nvSpPr>
        <p:spPr>
          <a:xfrm>
            <a:off x="7443788" y="2201704"/>
            <a:ext cx="6797397" cy="128826"/>
          </a:xfrm>
          <a:prstGeom prst="rect">
            <a:avLst/>
          </a:prstGeom>
          <a:noFill/>
          <a:ln/>
        </p:spPr>
        <p:txBody>
          <a:bodyPr wrap="none" lIns="0" tIns="0" rIns="0" bIns="0" rtlCol="0" anchor="t"/>
          <a:lstStyle/>
          <a:p>
            <a:pPr marL="342900" indent="-342900" algn="l">
              <a:lnSpc>
                <a:spcPts val="1000"/>
              </a:lnSpc>
              <a:buSzPct val="100000"/>
              <a:buChar char="•"/>
            </a:pPr>
            <a:r>
              <a:rPr lang="en-US" sz="750" dirty="0">
                <a:solidFill>
                  <a:srgbClr val="67534F"/>
                </a:solidFill>
                <a:latin typeface="Montserrat" pitchFamily="34" charset="0"/>
                <a:ea typeface="Montserrat" pitchFamily="34" charset="-122"/>
                <a:cs typeface="Montserrat" pitchFamily="34" charset="-120"/>
              </a:rPr>
              <a:t>Reduces object creation overhead</a:t>
            </a:r>
            <a:endParaRPr lang="en-US" sz="750" dirty="0"/>
          </a:p>
        </p:txBody>
      </p:sp>
      <p:sp>
        <p:nvSpPr>
          <p:cNvPr id="12" name="Text 9"/>
          <p:cNvSpPr/>
          <p:nvPr/>
        </p:nvSpPr>
        <p:spPr>
          <a:xfrm>
            <a:off x="7443788" y="2365177"/>
            <a:ext cx="6797397" cy="128826"/>
          </a:xfrm>
          <a:prstGeom prst="rect">
            <a:avLst/>
          </a:prstGeom>
          <a:noFill/>
          <a:ln/>
        </p:spPr>
        <p:txBody>
          <a:bodyPr wrap="none" lIns="0" tIns="0" rIns="0" bIns="0" rtlCol="0" anchor="t"/>
          <a:lstStyle/>
          <a:p>
            <a:pPr marL="342900" indent="-342900" algn="l">
              <a:lnSpc>
                <a:spcPts val="1000"/>
              </a:lnSpc>
              <a:buSzPct val="100000"/>
              <a:buChar char="•"/>
            </a:pPr>
            <a:r>
              <a:rPr lang="en-US" sz="750" dirty="0">
                <a:solidFill>
                  <a:srgbClr val="67534F"/>
                </a:solidFill>
                <a:latin typeface="Montserrat" pitchFamily="34" charset="0"/>
                <a:ea typeface="Montserrat" pitchFamily="34" charset="-122"/>
                <a:cs typeface="Montserrat" pitchFamily="34" charset="-120"/>
              </a:rPr>
              <a:t>Avoids expensive initialisation</a:t>
            </a:r>
            <a:endParaRPr lang="en-US" sz="750" dirty="0"/>
          </a:p>
        </p:txBody>
      </p:sp>
      <p:sp>
        <p:nvSpPr>
          <p:cNvPr id="13" name="Text 10"/>
          <p:cNvSpPr/>
          <p:nvPr/>
        </p:nvSpPr>
        <p:spPr>
          <a:xfrm>
            <a:off x="7443788" y="2528649"/>
            <a:ext cx="6797397" cy="128826"/>
          </a:xfrm>
          <a:prstGeom prst="rect">
            <a:avLst/>
          </a:prstGeom>
          <a:noFill/>
          <a:ln/>
        </p:spPr>
        <p:txBody>
          <a:bodyPr wrap="none" lIns="0" tIns="0" rIns="0" bIns="0" rtlCol="0" anchor="t"/>
          <a:lstStyle/>
          <a:p>
            <a:pPr marL="342900" indent="-342900" algn="l">
              <a:lnSpc>
                <a:spcPts val="1000"/>
              </a:lnSpc>
              <a:buSzPct val="100000"/>
              <a:buChar char="•"/>
            </a:pPr>
            <a:r>
              <a:rPr lang="en-US" sz="750" dirty="0">
                <a:solidFill>
                  <a:srgbClr val="67534F"/>
                </a:solidFill>
                <a:latin typeface="Montserrat" pitchFamily="34" charset="0"/>
                <a:ea typeface="Montserrat" pitchFamily="34" charset="-122"/>
                <a:cs typeface="Montserrat" pitchFamily="34" charset="-120"/>
              </a:rPr>
              <a:t>Simplifies object creation logic</a:t>
            </a:r>
            <a:endParaRPr lang="en-US" sz="750" dirty="0"/>
          </a:p>
        </p:txBody>
      </p:sp>
      <p:sp>
        <p:nvSpPr>
          <p:cNvPr id="14" name="Text 11"/>
          <p:cNvSpPr/>
          <p:nvPr/>
        </p:nvSpPr>
        <p:spPr>
          <a:xfrm>
            <a:off x="7443788" y="2692122"/>
            <a:ext cx="6797397" cy="128826"/>
          </a:xfrm>
          <a:prstGeom prst="rect">
            <a:avLst/>
          </a:prstGeom>
          <a:noFill/>
          <a:ln/>
        </p:spPr>
        <p:txBody>
          <a:bodyPr wrap="none" lIns="0" tIns="0" rIns="0" bIns="0" rtlCol="0" anchor="t"/>
          <a:lstStyle/>
          <a:p>
            <a:pPr marL="342900" indent="-342900" algn="l">
              <a:lnSpc>
                <a:spcPts val="1000"/>
              </a:lnSpc>
              <a:buSzPct val="100000"/>
              <a:buChar char="•"/>
            </a:pPr>
            <a:r>
              <a:rPr lang="en-US" sz="750" dirty="0">
                <a:solidFill>
                  <a:srgbClr val="67534F"/>
                </a:solidFill>
                <a:latin typeface="Montserrat" pitchFamily="34" charset="0"/>
                <a:ea typeface="Montserrat" pitchFamily="34" charset="-122"/>
                <a:cs typeface="Montserrat" pitchFamily="34" charset="-120"/>
              </a:rPr>
              <a:t>Enables dynamic configuration</a:t>
            </a:r>
            <a:endParaRPr lang="en-US" sz="750" dirty="0"/>
          </a:p>
        </p:txBody>
      </p:sp>
      <p:sp>
        <p:nvSpPr>
          <p:cNvPr id="15" name="Text 12"/>
          <p:cNvSpPr/>
          <p:nvPr/>
        </p:nvSpPr>
        <p:spPr>
          <a:xfrm>
            <a:off x="7443788" y="2911376"/>
            <a:ext cx="2170509" cy="222528"/>
          </a:xfrm>
          <a:prstGeom prst="rect">
            <a:avLst/>
          </a:prstGeom>
          <a:noFill/>
          <a:ln/>
        </p:spPr>
        <p:txBody>
          <a:bodyPr wrap="none" lIns="0" tIns="0" rIns="0" bIns="0" rtlCol="0" anchor="t"/>
          <a:lstStyle/>
          <a:p>
            <a:pPr marL="0" indent="0" algn="l">
              <a:lnSpc>
                <a:spcPts val="1750"/>
              </a:lnSpc>
              <a:buNone/>
            </a:pPr>
            <a:r>
              <a:rPr lang="en-US" sz="1300" dirty="0">
                <a:solidFill>
                  <a:srgbClr val="532418"/>
                </a:solidFill>
                <a:latin typeface="Marcellus" pitchFamily="34" charset="0"/>
                <a:ea typeface="Marcellus" pitchFamily="34" charset="-122"/>
                <a:cs typeface="Marcellus" pitchFamily="34" charset="-120"/>
              </a:rPr>
              <a:t>Document Template System</a:t>
            </a:r>
            <a:endParaRPr lang="en-US" sz="1300" dirty="0"/>
          </a:p>
        </p:txBody>
      </p:sp>
      <p:sp>
        <p:nvSpPr>
          <p:cNvPr id="17" name="Shape 14"/>
          <p:cNvSpPr/>
          <p:nvPr/>
        </p:nvSpPr>
        <p:spPr>
          <a:xfrm>
            <a:off x="7356482" y="3178677"/>
            <a:ext cx="7217821" cy="4778032"/>
          </a:xfrm>
          <a:prstGeom prst="roundRect">
            <a:avLst>
              <a:gd name="adj" fmla="val 303"/>
            </a:avLst>
          </a:prstGeom>
          <a:solidFill>
            <a:srgbClr val="F2F2E7"/>
          </a:solidFill>
          <a:ln/>
        </p:spPr>
        <p:txBody>
          <a:bodyPr/>
          <a:lstStyle/>
          <a:p>
            <a:r>
              <a:rPr lang="en-GB" sz="1600" dirty="0"/>
              <a:t>|Java Code Example (Cloning)|</a:t>
            </a:r>
          </a:p>
          <a:p>
            <a:r>
              <a:rPr lang="en-GB" sz="1600" dirty="0"/>
              <a:t>public class Shape implements Cloneable { </a:t>
            </a:r>
          </a:p>
          <a:p>
            <a:r>
              <a:rPr lang="en-GB" sz="1600" dirty="0"/>
              <a:t>        private String type; </a:t>
            </a:r>
          </a:p>
          <a:p>
            <a:r>
              <a:rPr lang="en-GB" sz="1600" dirty="0"/>
              <a:t>        // Primitive field</a:t>
            </a:r>
          </a:p>
          <a:p>
            <a:r>
              <a:rPr lang="en-GB" sz="1600" dirty="0"/>
              <a:t>        // ... other fields ... </a:t>
            </a:r>
          </a:p>
          <a:p>
            <a:r>
              <a:rPr lang="en-GB" sz="1600" dirty="0"/>
              <a:t>       @Override </a:t>
            </a:r>
          </a:p>
          <a:p>
            <a:r>
              <a:rPr lang="en-GB" sz="1600" dirty="0"/>
              <a:t>        public Shape clone() { </a:t>
            </a:r>
          </a:p>
          <a:p>
            <a:r>
              <a:rPr lang="en-GB" sz="1600" dirty="0"/>
              <a:t>                 try { </a:t>
            </a:r>
          </a:p>
          <a:p>
            <a:r>
              <a:rPr lang="en-GB" sz="1600" dirty="0"/>
              <a:t>                            return (Shape) </a:t>
            </a:r>
            <a:r>
              <a:rPr lang="en-GB" sz="1600" dirty="0" err="1"/>
              <a:t>super.clone</a:t>
            </a:r>
            <a:r>
              <a:rPr lang="en-GB" sz="1600" dirty="0"/>
              <a:t>(); // Calls Object's native clone method </a:t>
            </a:r>
          </a:p>
          <a:p>
            <a:r>
              <a:rPr lang="en-GB" sz="1600" dirty="0"/>
              <a:t>                 } catch (</a:t>
            </a:r>
            <a:r>
              <a:rPr lang="en-GB" sz="1600" dirty="0" err="1"/>
              <a:t>CloneNotSupportedException</a:t>
            </a:r>
            <a:r>
              <a:rPr lang="en-GB" sz="1600" dirty="0"/>
              <a:t> e) {</a:t>
            </a:r>
          </a:p>
          <a:p>
            <a:r>
              <a:rPr lang="en-GB" sz="1600" dirty="0"/>
              <a:t>                            // This block should never execute if Cloneable is implemented </a:t>
            </a:r>
          </a:p>
          <a:p>
            <a:r>
              <a:rPr lang="en-GB" sz="1600" dirty="0"/>
              <a:t>                            return null; </a:t>
            </a:r>
          </a:p>
          <a:p>
            <a:r>
              <a:rPr lang="en-GB" sz="1600" dirty="0"/>
              <a:t>                  }</a:t>
            </a:r>
          </a:p>
          <a:p>
            <a:r>
              <a:rPr lang="en-GB" sz="1600" dirty="0"/>
              <a:t>         }</a:t>
            </a:r>
          </a:p>
          <a:p>
            <a:r>
              <a:rPr lang="en-GB" sz="1600" dirty="0"/>
              <a:t> }</a:t>
            </a:r>
          </a:p>
          <a:p>
            <a:r>
              <a:rPr lang="en-GB" sz="1600" dirty="0"/>
              <a:t>| **Code Explanation** | </a:t>
            </a:r>
          </a:p>
          <a:p>
            <a:r>
              <a:rPr lang="en-GB" sz="1600" dirty="0"/>
              <a:t>The *clone()* method is central. It calls *</a:t>
            </a:r>
            <a:r>
              <a:rPr lang="en-GB" sz="1600" dirty="0" err="1"/>
              <a:t>super.clone</a:t>
            </a:r>
            <a:r>
              <a:rPr lang="en-GB" sz="1600" dirty="0"/>
              <a:t>()*, which performs a native, fast, *field-by-field copy* of the object's data.</a:t>
            </a:r>
          </a:p>
          <a:p>
            <a:r>
              <a:rPr lang="en-GB" sz="1600" dirty="0"/>
              <a:t>Note that </a:t>
            </a:r>
            <a:r>
              <a:rPr lang="en-GB" sz="1600" dirty="0" err="1"/>
              <a:t>super.clone</a:t>
            </a:r>
            <a:r>
              <a:rPr lang="en-GB" sz="1600" dirty="0"/>
              <a:t>()always performs a *shallow copy* </a:t>
            </a:r>
          </a:p>
        </p:txBody>
      </p:sp>
      <p:sp>
        <p:nvSpPr>
          <p:cNvPr id="18" name="Text 15"/>
          <p:cNvSpPr/>
          <p:nvPr/>
        </p:nvSpPr>
        <p:spPr>
          <a:xfrm>
            <a:off x="7443788" y="3231776"/>
            <a:ext cx="6789777" cy="4766548"/>
          </a:xfrm>
          <a:prstGeom prst="rect">
            <a:avLst/>
          </a:prstGeom>
          <a:noFill/>
          <a:ln/>
        </p:spPr>
        <p:txBody>
          <a:bodyPr wrap="square" lIns="0" tIns="0" rIns="0" bIns="0" rtlCol="0" anchor="t"/>
          <a:lstStyle/>
          <a:p>
            <a:pPr marL="0" indent="0" algn="l">
              <a:lnSpc>
                <a:spcPts val="1000"/>
              </a:lnSpc>
              <a:buNone/>
            </a:pPr>
            <a:endParaRPr lang="en-US" sz="750" dirty="0"/>
          </a:p>
        </p:txBody>
      </p:sp>
      <p:pic>
        <p:nvPicPr>
          <p:cNvPr id="19" name="Picture 18">
            <a:extLst>
              <a:ext uri="{FF2B5EF4-FFF2-40B4-BE49-F238E27FC236}">
                <a16:creationId xmlns:a16="http://schemas.microsoft.com/office/drawing/2014/main" id="{9851F767-BC78-6D8E-0014-EC93DCDB3EE4}"/>
              </a:ext>
            </a:extLst>
          </p:cNvPr>
          <p:cNvPicPr>
            <a:picLocks noChangeAspect="1"/>
          </p:cNvPicPr>
          <p:nvPr/>
        </p:nvPicPr>
        <p:blipFill>
          <a:blip r:embed="rId4"/>
          <a:stretch>
            <a:fillRect/>
          </a:stretch>
        </p:blipFill>
        <p:spPr>
          <a:xfrm>
            <a:off x="12837334" y="7781097"/>
            <a:ext cx="1695687" cy="3524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172097-0764-21D4-13BC-10E0F9986B8F}"/>
              </a:ext>
            </a:extLst>
          </p:cNvPr>
          <p:cNvSpPr txBox="1"/>
          <p:nvPr/>
        </p:nvSpPr>
        <p:spPr>
          <a:xfrm>
            <a:off x="4831882" y="654998"/>
            <a:ext cx="7315200" cy="461665"/>
          </a:xfrm>
          <a:prstGeom prst="rect">
            <a:avLst/>
          </a:prstGeom>
          <a:noFill/>
        </p:spPr>
        <p:txBody>
          <a:bodyPr wrap="square">
            <a:spAutoFit/>
          </a:bodyPr>
          <a:lstStyle/>
          <a:p>
            <a:r>
              <a:rPr lang="en-GB" sz="2400" dirty="0"/>
              <a:t>Deep vs. Shallow Copy</a:t>
            </a:r>
          </a:p>
        </p:txBody>
      </p:sp>
      <p:sp>
        <p:nvSpPr>
          <p:cNvPr id="5" name="TextBox 4">
            <a:extLst>
              <a:ext uri="{FF2B5EF4-FFF2-40B4-BE49-F238E27FC236}">
                <a16:creationId xmlns:a16="http://schemas.microsoft.com/office/drawing/2014/main" id="{F51B4006-FF8A-34F9-4920-9744BFCFA29B}"/>
              </a:ext>
            </a:extLst>
          </p:cNvPr>
          <p:cNvSpPr txBox="1"/>
          <p:nvPr/>
        </p:nvSpPr>
        <p:spPr>
          <a:xfrm>
            <a:off x="943277" y="1280571"/>
            <a:ext cx="13061481" cy="1015663"/>
          </a:xfrm>
          <a:prstGeom prst="rect">
            <a:avLst/>
          </a:prstGeom>
          <a:noFill/>
        </p:spPr>
        <p:txBody>
          <a:bodyPr wrap="square">
            <a:spAutoFit/>
          </a:bodyPr>
          <a:lstStyle/>
          <a:p>
            <a:r>
              <a:rPr lang="en-GB" sz="1200" b="1" dirty="0"/>
              <a:t>Shallow Copy:</a:t>
            </a:r>
            <a:r>
              <a:rPr lang="en-GB" sz="1200" dirty="0"/>
              <a:t> Copies the object's primitive fields, but for </a:t>
            </a:r>
            <a:r>
              <a:rPr lang="en-GB" sz="1200" b="1" dirty="0"/>
              <a:t>reference-type fields</a:t>
            </a:r>
            <a:r>
              <a:rPr lang="en-GB" sz="1200" dirty="0"/>
              <a:t> (objects nested inside the prototype), </a:t>
            </a:r>
            <a:r>
              <a:rPr lang="en-GB" sz="1200" b="1" dirty="0"/>
              <a:t>only the memory reference is copied</a:t>
            </a:r>
            <a:r>
              <a:rPr lang="en-GB" sz="1200" dirty="0"/>
              <a:t> 🔗. </a:t>
            </a:r>
            <a:r>
              <a:rPr lang="en-GB" sz="1200" b="1" dirty="0"/>
              <a:t>Result:</a:t>
            </a:r>
            <a:r>
              <a:rPr lang="en-GB" sz="1200" dirty="0"/>
              <a:t> The original and the copy </a:t>
            </a:r>
            <a:r>
              <a:rPr lang="en-GB" sz="1200" b="1" dirty="0"/>
              <a:t>share</a:t>
            </a:r>
            <a:r>
              <a:rPr lang="en-GB" sz="1200" dirty="0"/>
              <a:t> the same nested object. Modifying the nested object in the copy will </a:t>
            </a:r>
            <a:r>
              <a:rPr lang="en-GB" sz="1200" b="1" dirty="0"/>
              <a:t>affect the original prototype</a:t>
            </a:r>
            <a:r>
              <a:rPr lang="en-GB" sz="1200" dirty="0"/>
              <a:t>.</a:t>
            </a:r>
          </a:p>
          <a:p>
            <a:endParaRPr lang="en-GB" sz="1200" dirty="0"/>
          </a:p>
          <a:p>
            <a:r>
              <a:rPr lang="en-GB" sz="1200" dirty="0"/>
              <a:t> </a:t>
            </a:r>
            <a:r>
              <a:rPr lang="en-GB" sz="1200" b="1" dirty="0"/>
              <a:t>Deep Copy:</a:t>
            </a:r>
            <a:r>
              <a:rPr lang="en-GB" sz="1200" dirty="0"/>
              <a:t> Recursively copies all nested objects, ensuring the new object is </a:t>
            </a:r>
            <a:r>
              <a:rPr lang="en-GB" sz="1200" b="1" dirty="0"/>
              <a:t>completely independent</a:t>
            </a:r>
            <a:r>
              <a:rPr lang="en-GB" sz="1200" dirty="0"/>
              <a:t> 🧱 of the prototype. </a:t>
            </a:r>
            <a:r>
              <a:rPr lang="en-GB" sz="1200" b="1" dirty="0"/>
              <a:t>Requirement:</a:t>
            </a:r>
            <a:r>
              <a:rPr lang="en-GB" sz="1200" dirty="0"/>
              <a:t> For the Prototype pattern to work correctly with complex objects, you </a:t>
            </a:r>
            <a:r>
              <a:rPr lang="en-GB" sz="1200" b="1" dirty="0"/>
              <a:t>MUST implement a correct Deep Copy</a:t>
            </a:r>
            <a:r>
              <a:rPr lang="en-GB" sz="1200" dirty="0"/>
              <a:t> within the </a:t>
            </a:r>
            <a:r>
              <a:rPr lang="en-GB" sz="1200" dirty="0">
                <a:latin typeface="Courier New" panose="02070309020205020404" pitchFamily="49" charset="0"/>
              </a:rPr>
              <a:t>clone()</a:t>
            </a:r>
            <a:r>
              <a:rPr lang="en-GB" sz="1200" dirty="0"/>
              <a:t> method for all mutable reference fields.</a:t>
            </a:r>
          </a:p>
        </p:txBody>
      </p:sp>
      <p:sp>
        <p:nvSpPr>
          <p:cNvPr id="7" name="TextBox 6">
            <a:extLst>
              <a:ext uri="{FF2B5EF4-FFF2-40B4-BE49-F238E27FC236}">
                <a16:creationId xmlns:a16="http://schemas.microsoft.com/office/drawing/2014/main" id="{2A37D038-F3D9-F2D7-D388-BD57FC82DEC3}"/>
              </a:ext>
            </a:extLst>
          </p:cNvPr>
          <p:cNvSpPr txBox="1"/>
          <p:nvPr/>
        </p:nvSpPr>
        <p:spPr>
          <a:xfrm>
            <a:off x="895152" y="2460142"/>
            <a:ext cx="5236141" cy="5355312"/>
          </a:xfrm>
          <a:prstGeom prst="rect">
            <a:avLst/>
          </a:prstGeom>
          <a:noFill/>
        </p:spPr>
        <p:txBody>
          <a:bodyPr wrap="square">
            <a:spAutoFit/>
          </a:bodyPr>
          <a:lstStyle/>
          <a:p>
            <a:r>
              <a:rPr lang="en-GB" sz="900" dirty="0"/>
              <a:t>import </a:t>
            </a:r>
            <a:r>
              <a:rPr lang="en-GB" sz="900" dirty="0" err="1"/>
              <a:t>java.util.Objects</a:t>
            </a:r>
            <a:r>
              <a:rPr lang="en-GB" sz="900" dirty="0"/>
              <a:t>;</a:t>
            </a:r>
          </a:p>
          <a:p>
            <a:endParaRPr lang="en-GB" sz="900" dirty="0"/>
          </a:p>
          <a:p>
            <a:r>
              <a:rPr lang="en-GB" sz="900" dirty="0"/>
              <a:t>class Address implements Cloneable {</a:t>
            </a:r>
          </a:p>
          <a:p>
            <a:r>
              <a:rPr lang="en-GB" sz="900" dirty="0"/>
              <a:t>    public String city;</a:t>
            </a:r>
          </a:p>
          <a:p>
            <a:endParaRPr lang="en-GB" sz="900" dirty="0"/>
          </a:p>
          <a:p>
            <a:r>
              <a:rPr lang="en-GB" sz="900" dirty="0"/>
              <a:t>    public Address(String city) {</a:t>
            </a:r>
          </a:p>
          <a:p>
            <a:r>
              <a:rPr lang="en-GB" sz="900" dirty="0"/>
              <a:t>        </a:t>
            </a:r>
            <a:r>
              <a:rPr lang="en-GB" sz="900" dirty="0" err="1"/>
              <a:t>this.city</a:t>
            </a:r>
            <a:r>
              <a:rPr lang="en-GB" sz="900" dirty="0"/>
              <a:t> = city;</a:t>
            </a:r>
          </a:p>
          <a:p>
            <a:r>
              <a:rPr lang="en-GB" sz="900" dirty="0"/>
              <a:t>    }</a:t>
            </a:r>
          </a:p>
          <a:p>
            <a:endParaRPr lang="en-GB" sz="900" dirty="0"/>
          </a:p>
          <a:p>
            <a:r>
              <a:rPr lang="en-GB" sz="900" dirty="0"/>
              <a:t>    @Override</a:t>
            </a:r>
          </a:p>
          <a:p>
            <a:r>
              <a:rPr lang="en-GB" sz="900" dirty="0"/>
              <a:t>    public Object clone() throws </a:t>
            </a:r>
            <a:r>
              <a:rPr lang="en-GB" sz="900" dirty="0" err="1"/>
              <a:t>CloneNotSupportedException</a:t>
            </a:r>
            <a:r>
              <a:rPr lang="en-GB" sz="900" dirty="0"/>
              <a:t> {</a:t>
            </a:r>
          </a:p>
          <a:p>
            <a:r>
              <a:rPr lang="en-GB" sz="900" dirty="0"/>
              <a:t>        return </a:t>
            </a:r>
            <a:r>
              <a:rPr lang="en-GB" sz="900" dirty="0" err="1"/>
              <a:t>super.clone</a:t>
            </a:r>
            <a:r>
              <a:rPr lang="en-GB" sz="900" dirty="0"/>
              <a:t>(); </a:t>
            </a:r>
          </a:p>
          <a:p>
            <a:r>
              <a:rPr lang="en-GB" sz="900" dirty="0"/>
              <a:t>    }</a:t>
            </a:r>
          </a:p>
          <a:p>
            <a:r>
              <a:rPr lang="en-GB" sz="900" dirty="0"/>
              <a:t>}</a:t>
            </a:r>
          </a:p>
          <a:p>
            <a:endParaRPr lang="en-GB" sz="900" dirty="0"/>
          </a:p>
          <a:p>
            <a:r>
              <a:rPr lang="en-GB" sz="900" dirty="0"/>
              <a:t>class User implements Cloneable {</a:t>
            </a:r>
          </a:p>
          <a:p>
            <a:r>
              <a:rPr lang="en-GB" sz="900" dirty="0"/>
              <a:t>    public int id;</a:t>
            </a:r>
          </a:p>
          <a:p>
            <a:r>
              <a:rPr lang="en-GB" sz="900" dirty="0"/>
              <a:t>    public Address </a:t>
            </a:r>
            <a:r>
              <a:rPr lang="en-GB" sz="900" dirty="0" err="1"/>
              <a:t>homeAddress</a:t>
            </a:r>
            <a:r>
              <a:rPr lang="en-GB" sz="900" dirty="0"/>
              <a:t>;</a:t>
            </a:r>
          </a:p>
          <a:p>
            <a:endParaRPr lang="en-GB" sz="900" dirty="0"/>
          </a:p>
          <a:p>
            <a:r>
              <a:rPr lang="en-GB" sz="900" dirty="0"/>
              <a:t>    public User(int id, Address address) {</a:t>
            </a:r>
          </a:p>
          <a:p>
            <a:r>
              <a:rPr lang="en-GB" sz="900" dirty="0"/>
              <a:t>        this.id = id;</a:t>
            </a:r>
          </a:p>
          <a:p>
            <a:r>
              <a:rPr lang="en-GB" sz="900" dirty="0"/>
              <a:t>        </a:t>
            </a:r>
            <a:r>
              <a:rPr lang="en-GB" sz="900" dirty="0" err="1"/>
              <a:t>this.homeAddress</a:t>
            </a:r>
            <a:r>
              <a:rPr lang="en-GB" sz="900" dirty="0"/>
              <a:t> = address;</a:t>
            </a:r>
          </a:p>
          <a:p>
            <a:r>
              <a:rPr lang="en-GB" sz="900" dirty="0"/>
              <a:t>    }</a:t>
            </a:r>
          </a:p>
          <a:p>
            <a:endParaRPr lang="en-GB" sz="900" dirty="0"/>
          </a:p>
          <a:p>
            <a:r>
              <a:rPr lang="en-GB" sz="900" dirty="0"/>
              <a:t>    // --- Shallow Copy (Shares Address object) ---</a:t>
            </a:r>
          </a:p>
          <a:p>
            <a:r>
              <a:rPr lang="en-GB" sz="900" dirty="0"/>
              <a:t>    public User </a:t>
            </a:r>
            <a:r>
              <a:rPr lang="en-GB" sz="900" dirty="0" err="1"/>
              <a:t>shallowClone</a:t>
            </a:r>
            <a:r>
              <a:rPr lang="en-GB" sz="900" dirty="0"/>
              <a:t>() throws </a:t>
            </a:r>
            <a:r>
              <a:rPr lang="en-GB" sz="900" dirty="0" err="1"/>
              <a:t>CloneNotSupportedException</a:t>
            </a:r>
            <a:r>
              <a:rPr lang="en-GB" sz="900" dirty="0"/>
              <a:t> {</a:t>
            </a:r>
          </a:p>
          <a:p>
            <a:r>
              <a:rPr lang="en-GB" sz="900" dirty="0"/>
              <a:t>        return (User) </a:t>
            </a:r>
            <a:r>
              <a:rPr lang="en-GB" sz="900" dirty="0" err="1"/>
              <a:t>super.clone</a:t>
            </a:r>
            <a:r>
              <a:rPr lang="en-GB" sz="900" dirty="0"/>
              <a:t>();</a:t>
            </a:r>
          </a:p>
          <a:p>
            <a:r>
              <a:rPr lang="en-GB" sz="900" dirty="0"/>
              <a:t>    }</a:t>
            </a:r>
          </a:p>
          <a:p>
            <a:r>
              <a:rPr lang="en-GB" sz="900" dirty="0"/>
              <a:t>    </a:t>
            </a:r>
          </a:p>
          <a:p>
            <a:r>
              <a:rPr lang="en-GB" sz="900" dirty="0"/>
              <a:t>    // --- Deep Copy (Creates new Address object) ---</a:t>
            </a:r>
          </a:p>
          <a:p>
            <a:r>
              <a:rPr lang="en-GB" sz="900" dirty="0"/>
              <a:t>    public User </a:t>
            </a:r>
            <a:r>
              <a:rPr lang="en-GB" sz="900" dirty="0" err="1"/>
              <a:t>deepClone</a:t>
            </a:r>
            <a:r>
              <a:rPr lang="en-GB" sz="900" dirty="0"/>
              <a:t>() throws </a:t>
            </a:r>
            <a:r>
              <a:rPr lang="en-GB" sz="900" dirty="0" err="1"/>
              <a:t>CloneNotSupportedException</a:t>
            </a:r>
            <a:r>
              <a:rPr lang="en-GB" sz="900" dirty="0"/>
              <a:t> {</a:t>
            </a:r>
          </a:p>
          <a:p>
            <a:r>
              <a:rPr lang="en-GB" sz="900" dirty="0"/>
              <a:t>        User </a:t>
            </a:r>
            <a:r>
              <a:rPr lang="en-GB" sz="900" dirty="0" err="1"/>
              <a:t>clonedUser</a:t>
            </a:r>
            <a:r>
              <a:rPr lang="en-GB" sz="900" dirty="0"/>
              <a:t> = (User) </a:t>
            </a:r>
            <a:r>
              <a:rPr lang="en-GB" sz="900" dirty="0" err="1"/>
              <a:t>super.clone</a:t>
            </a:r>
            <a:r>
              <a:rPr lang="en-GB" sz="900" dirty="0"/>
              <a:t>();</a:t>
            </a:r>
          </a:p>
          <a:p>
            <a:r>
              <a:rPr lang="en-GB" sz="900" dirty="0"/>
              <a:t>        </a:t>
            </a:r>
            <a:r>
              <a:rPr lang="en-GB" sz="900" dirty="0" err="1"/>
              <a:t>clonedUser.homeAddress</a:t>
            </a:r>
            <a:r>
              <a:rPr lang="en-GB" sz="900" dirty="0"/>
              <a:t> = (Address) </a:t>
            </a:r>
            <a:r>
              <a:rPr lang="en-GB" sz="900" dirty="0" err="1"/>
              <a:t>this.homeAddress.clone</a:t>
            </a:r>
            <a:r>
              <a:rPr lang="en-GB" sz="900" dirty="0"/>
              <a:t>();</a:t>
            </a:r>
          </a:p>
          <a:p>
            <a:r>
              <a:rPr lang="en-GB" sz="900" dirty="0"/>
              <a:t>        return </a:t>
            </a:r>
            <a:r>
              <a:rPr lang="en-GB" sz="900" dirty="0" err="1"/>
              <a:t>clonedUser</a:t>
            </a:r>
            <a:r>
              <a:rPr lang="en-GB" sz="900" dirty="0"/>
              <a:t>;</a:t>
            </a:r>
          </a:p>
          <a:p>
            <a:r>
              <a:rPr lang="en-GB" sz="900" dirty="0"/>
              <a:t>    }</a:t>
            </a:r>
          </a:p>
          <a:p>
            <a:r>
              <a:rPr lang="en-GB" sz="900" dirty="0"/>
              <a:t>}</a:t>
            </a:r>
          </a:p>
          <a:p>
            <a:endParaRPr lang="en-GB" sz="900" dirty="0"/>
          </a:p>
          <a:p>
            <a:endParaRPr lang="en-GB" sz="900" dirty="0"/>
          </a:p>
        </p:txBody>
      </p:sp>
      <p:sp>
        <p:nvSpPr>
          <p:cNvPr id="9" name="TextBox 8">
            <a:extLst>
              <a:ext uri="{FF2B5EF4-FFF2-40B4-BE49-F238E27FC236}">
                <a16:creationId xmlns:a16="http://schemas.microsoft.com/office/drawing/2014/main" id="{38AAE95F-A296-E857-8897-A990A6BFC8D3}"/>
              </a:ext>
            </a:extLst>
          </p:cNvPr>
          <p:cNvSpPr txBox="1"/>
          <p:nvPr/>
        </p:nvSpPr>
        <p:spPr>
          <a:xfrm>
            <a:off x="6227545" y="2455492"/>
            <a:ext cx="7315200" cy="3477875"/>
          </a:xfrm>
          <a:prstGeom prst="rect">
            <a:avLst/>
          </a:prstGeom>
          <a:noFill/>
        </p:spPr>
        <p:txBody>
          <a:bodyPr wrap="square">
            <a:spAutoFit/>
          </a:bodyPr>
          <a:lstStyle/>
          <a:p>
            <a:r>
              <a:rPr lang="en-GB" sz="1000" dirty="0"/>
              <a:t>public class </a:t>
            </a:r>
            <a:r>
              <a:rPr lang="en-GB" sz="1000" dirty="0" err="1"/>
              <a:t>CopyDemo</a:t>
            </a:r>
            <a:r>
              <a:rPr lang="en-GB" sz="1000" dirty="0"/>
              <a:t> {</a:t>
            </a:r>
          </a:p>
          <a:p>
            <a:r>
              <a:rPr lang="en-GB" sz="1000" dirty="0"/>
              <a:t>    public static void main(String[] </a:t>
            </a:r>
            <a:r>
              <a:rPr lang="en-GB" sz="1000" dirty="0" err="1"/>
              <a:t>args</a:t>
            </a:r>
            <a:r>
              <a:rPr lang="en-GB" sz="1000" dirty="0"/>
              <a:t>) throws </a:t>
            </a:r>
            <a:r>
              <a:rPr lang="en-GB" sz="1000" dirty="0" err="1"/>
              <a:t>CloneNotSupportedException</a:t>
            </a:r>
            <a:r>
              <a:rPr lang="en-GB" sz="1000" dirty="0"/>
              <a:t> {</a:t>
            </a:r>
          </a:p>
          <a:p>
            <a:r>
              <a:rPr lang="en-GB" sz="1000" dirty="0"/>
              <a:t>        </a:t>
            </a:r>
          </a:p>
          <a:p>
            <a:r>
              <a:rPr lang="en-GB" sz="1000" dirty="0"/>
              <a:t>        Address original = new Address("London");</a:t>
            </a:r>
          </a:p>
          <a:p>
            <a:r>
              <a:rPr lang="en-GB" sz="1000" dirty="0"/>
              <a:t>        User user1 = new User(1, original);</a:t>
            </a:r>
          </a:p>
          <a:p>
            <a:r>
              <a:rPr lang="en-GB" sz="1000" dirty="0"/>
              <a:t>        </a:t>
            </a:r>
          </a:p>
          <a:p>
            <a:r>
              <a:rPr lang="en-GB" sz="1000" dirty="0"/>
              <a:t>        // --- 1. SHALLOW COPY TEST ---</a:t>
            </a:r>
          </a:p>
          <a:p>
            <a:r>
              <a:rPr lang="en-GB" sz="1000" dirty="0"/>
              <a:t>        User user2_shallow = user1.shallowClone(); </a:t>
            </a:r>
          </a:p>
          <a:p>
            <a:r>
              <a:rPr lang="en-GB" sz="1000" dirty="0"/>
              <a:t>        user2_shallow.homeAddress.city = "Paris"; // Change the copy</a:t>
            </a:r>
          </a:p>
          <a:p>
            <a:r>
              <a:rPr lang="en-GB" sz="1000" dirty="0"/>
              <a:t>        </a:t>
            </a:r>
          </a:p>
          <a:p>
            <a:r>
              <a:rPr lang="en-GB" sz="1000" dirty="0"/>
              <a:t>        </a:t>
            </a:r>
            <a:r>
              <a:rPr lang="en-GB" sz="1000" dirty="0" err="1"/>
              <a:t>System.out.println</a:t>
            </a:r>
            <a:r>
              <a:rPr lang="en-GB" sz="1000" dirty="0"/>
              <a:t>("Shallow Test:");</a:t>
            </a:r>
          </a:p>
          <a:p>
            <a:r>
              <a:rPr lang="en-GB" sz="1000" dirty="0"/>
              <a:t>        </a:t>
            </a:r>
            <a:r>
              <a:rPr lang="en-GB" sz="1000" dirty="0" err="1"/>
              <a:t>System.out.println</a:t>
            </a:r>
            <a:r>
              <a:rPr lang="en-GB" sz="1000" dirty="0"/>
              <a:t>("Original (user1) city: " + user1.homeAddress.city); // Output: Paris (PROBLEM: Original changed!)</a:t>
            </a:r>
          </a:p>
          <a:p>
            <a:r>
              <a:rPr lang="en-GB" sz="1000" dirty="0"/>
              <a:t>        </a:t>
            </a:r>
          </a:p>
          <a:p>
            <a:r>
              <a:rPr lang="en-GB" sz="1000" dirty="0"/>
              <a:t>        // --- 2. DEEP COPY TEST ---</a:t>
            </a:r>
          </a:p>
          <a:p>
            <a:r>
              <a:rPr lang="en-GB" sz="1000" dirty="0"/>
              <a:t>        User user3_deep = user1.deepClone(); </a:t>
            </a:r>
          </a:p>
          <a:p>
            <a:r>
              <a:rPr lang="en-GB" sz="1000" dirty="0"/>
              <a:t>        user3_deep.homeAddress.city = "Tokyo"; // Change the deep copy</a:t>
            </a:r>
          </a:p>
          <a:p>
            <a:r>
              <a:rPr lang="en-GB" sz="1000" dirty="0"/>
              <a:t>        </a:t>
            </a:r>
          </a:p>
          <a:p>
            <a:r>
              <a:rPr lang="en-GB" sz="1000" dirty="0"/>
              <a:t>        </a:t>
            </a:r>
            <a:r>
              <a:rPr lang="en-GB" sz="1000" dirty="0" err="1"/>
              <a:t>System.out.println</a:t>
            </a:r>
            <a:r>
              <a:rPr lang="en-GB" sz="1000" dirty="0"/>
              <a:t>("\</a:t>
            </a:r>
            <a:r>
              <a:rPr lang="en-GB" sz="1000" dirty="0" err="1"/>
              <a:t>nDeep</a:t>
            </a:r>
            <a:r>
              <a:rPr lang="en-GB" sz="1000" dirty="0"/>
              <a:t> Test:");</a:t>
            </a:r>
          </a:p>
          <a:p>
            <a:r>
              <a:rPr lang="en-GB" sz="1000" dirty="0"/>
              <a:t>        </a:t>
            </a:r>
            <a:r>
              <a:rPr lang="en-GB" sz="1000" dirty="0" err="1"/>
              <a:t>System.out.println</a:t>
            </a:r>
            <a:r>
              <a:rPr lang="en-GB" sz="1000" dirty="0"/>
              <a:t>("Original (user1) city: " + user1.homeAddress.city); // Output: Paris (Correct for test flow)</a:t>
            </a:r>
          </a:p>
          <a:p>
            <a:r>
              <a:rPr lang="en-GB" sz="1000" dirty="0"/>
              <a:t>        </a:t>
            </a:r>
            <a:r>
              <a:rPr lang="en-GB" sz="1000" dirty="0" err="1"/>
              <a:t>System.out.println</a:t>
            </a:r>
            <a:r>
              <a:rPr lang="en-GB" sz="1000" dirty="0"/>
              <a:t>("Deep Copy (user3) city: " + user3_deep.homeAddress.city); // Output: Tokyo (SOLUTION: Independent)</a:t>
            </a:r>
          </a:p>
          <a:p>
            <a:r>
              <a:rPr lang="en-GB" sz="1000" dirty="0"/>
              <a:t>    }</a:t>
            </a:r>
          </a:p>
          <a:p>
            <a:r>
              <a:rPr lang="en-GB" sz="1000" dirty="0"/>
              <a:t>}</a:t>
            </a:r>
            <a:endParaRPr lang="en-GB" sz="2400" dirty="0"/>
          </a:p>
        </p:txBody>
      </p:sp>
    </p:spTree>
    <p:extLst>
      <p:ext uri="{BB962C8B-B14F-4D97-AF65-F5344CB8AC3E}">
        <p14:creationId xmlns:p14="http://schemas.microsoft.com/office/powerpoint/2010/main" val="343094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45532" y="312658"/>
            <a:ext cx="8224242" cy="416362"/>
          </a:xfrm>
          <a:prstGeom prst="rect">
            <a:avLst/>
          </a:prstGeom>
          <a:noFill/>
          <a:ln/>
        </p:spPr>
        <p:txBody>
          <a:bodyPr wrap="none" lIns="0" tIns="0" rIns="0" bIns="0" rtlCol="0" anchor="t"/>
          <a:lstStyle/>
          <a:p>
            <a:pPr marL="0" indent="0" algn="l">
              <a:lnSpc>
                <a:spcPts val="3250"/>
              </a:lnSpc>
              <a:buNone/>
            </a:pPr>
            <a:r>
              <a:rPr lang="en-US" sz="2500" dirty="0">
                <a:solidFill>
                  <a:srgbClr val="532418"/>
                </a:solidFill>
                <a:latin typeface="Marcellus" pitchFamily="34" charset="0"/>
                <a:ea typeface="Marcellus" pitchFamily="34" charset="-122"/>
                <a:cs typeface="Marcellus" pitchFamily="34" charset="-120"/>
              </a:rPr>
              <a:t>Best Practices and Common Pitfalls in Creational Patterns</a:t>
            </a:r>
            <a:endParaRPr lang="en-US" sz="2500" dirty="0"/>
          </a:p>
        </p:txBody>
      </p:sp>
      <p:sp>
        <p:nvSpPr>
          <p:cNvPr id="3" name="Shape 1"/>
          <p:cNvSpPr/>
          <p:nvPr/>
        </p:nvSpPr>
        <p:spPr>
          <a:xfrm>
            <a:off x="445532" y="951786"/>
            <a:ext cx="6813947" cy="2021562"/>
          </a:xfrm>
          <a:prstGeom prst="roundRect">
            <a:avLst>
              <a:gd name="adj" fmla="val 2314"/>
            </a:avLst>
          </a:prstGeom>
          <a:solidFill>
            <a:srgbClr val="FFFFF4"/>
          </a:solidFill>
          <a:ln w="7620">
            <a:solidFill>
              <a:srgbClr val="FFE0CC"/>
            </a:solidFill>
            <a:prstDash val="solid"/>
          </a:ln>
        </p:spPr>
        <p:txBody>
          <a:bodyPr/>
          <a:lstStyle/>
          <a:p>
            <a:endParaRPr lang="en-GB"/>
          </a:p>
        </p:txBody>
      </p:sp>
      <p:sp>
        <p:nvSpPr>
          <p:cNvPr id="4" name="Shape 2"/>
          <p:cNvSpPr/>
          <p:nvPr/>
        </p:nvSpPr>
        <p:spPr>
          <a:xfrm>
            <a:off x="564475" y="1070729"/>
            <a:ext cx="334089" cy="334089"/>
          </a:xfrm>
          <a:prstGeom prst="roundRect">
            <a:avLst>
              <a:gd name="adj" fmla="val 27367215"/>
            </a:avLst>
          </a:prstGeom>
          <a:solidFill>
            <a:srgbClr val="FF954F"/>
          </a:solidFill>
          <a:ln/>
        </p:spPr>
        <p:txBody>
          <a:bodyPr/>
          <a:lstStyle/>
          <a:p>
            <a:endParaRPr lang="en-GB"/>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273" y="1162526"/>
            <a:ext cx="150376" cy="150376"/>
          </a:xfrm>
          <a:prstGeom prst="rect">
            <a:avLst/>
          </a:prstGeom>
        </p:spPr>
      </p:pic>
      <p:sp>
        <p:nvSpPr>
          <p:cNvPr id="6" name="Text 3"/>
          <p:cNvSpPr/>
          <p:nvPr/>
        </p:nvSpPr>
        <p:spPr>
          <a:xfrm>
            <a:off x="564475" y="1516142"/>
            <a:ext cx="160127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Best Practices</a:t>
            </a:r>
            <a:endParaRPr lang="en-US" sz="1250" dirty="0"/>
          </a:p>
        </p:txBody>
      </p:sp>
      <p:sp>
        <p:nvSpPr>
          <p:cNvPr id="7" name="Text 4"/>
          <p:cNvSpPr/>
          <p:nvPr/>
        </p:nvSpPr>
        <p:spPr>
          <a:xfrm>
            <a:off x="564475" y="1791057"/>
            <a:ext cx="6576060"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Use Singleton sparingly—global state can complicate testing</a:t>
            </a:r>
            <a:endParaRPr lang="en-US" sz="850" dirty="0"/>
          </a:p>
        </p:txBody>
      </p:sp>
      <p:sp>
        <p:nvSpPr>
          <p:cNvPr id="8" name="Text 5"/>
          <p:cNvSpPr/>
          <p:nvPr/>
        </p:nvSpPr>
        <p:spPr>
          <a:xfrm>
            <a:off x="564475" y="1974771"/>
            <a:ext cx="6576060"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Implement thread-safe Singletons in multi-threaded environments</a:t>
            </a:r>
            <a:endParaRPr lang="en-US" sz="850" dirty="0"/>
          </a:p>
        </p:txBody>
      </p:sp>
      <p:sp>
        <p:nvSpPr>
          <p:cNvPr id="9" name="Text 6"/>
          <p:cNvSpPr/>
          <p:nvPr/>
        </p:nvSpPr>
        <p:spPr>
          <a:xfrm>
            <a:off x="564475" y="2158484"/>
            <a:ext cx="6576060"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Prefer Builder for objects with many optional parameters</a:t>
            </a:r>
            <a:endParaRPr lang="en-US" sz="850" dirty="0"/>
          </a:p>
        </p:txBody>
      </p:sp>
      <p:sp>
        <p:nvSpPr>
          <p:cNvPr id="10" name="Text 7"/>
          <p:cNvSpPr/>
          <p:nvPr/>
        </p:nvSpPr>
        <p:spPr>
          <a:xfrm>
            <a:off x="564475" y="2342198"/>
            <a:ext cx="6576060"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Use Abstract Factory for families of related objects</a:t>
            </a:r>
            <a:endParaRPr lang="en-US" sz="850" dirty="0"/>
          </a:p>
        </p:txBody>
      </p:sp>
      <p:sp>
        <p:nvSpPr>
          <p:cNvPr id="11" name="Text 8"/>
          <p:cNvSpPr/>
          <p:nvPr/>
        </p:nvSpPr>
        <p:spPr>
          <a:xfrm>
            <a:off x="564475" y="2525911"/>
            <a:ext cx="6576060"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Implement deep cloning correctly in Prototype</a:t>
            </a:r>
            <a:endParaRPr lang="en-US" sz="850" dirty="0"/>
          </a:p>
        </p:txBody>
      </p:sp>
      <p:sp>
        <p:nvSpPr>
          <p:cNvPr id="12" name="Text 9"/>
          <p:cNvSpPr/>
          <p:nvPr/>
        </p:nvSpPr>
        <p:spPr>
          <a:xfrm>
            <a:off x="564475" y="2709624"/>
            <a:ext cx="6576060"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Keep factories focused on object creation only</a:t>
            </a:r>
            <a:endParaRPr lang="en-US" sz="850" dirty="0"/>
          </a:p>
        </p:txBody>
      </p:sp>
      <p:sp>
        <p:nvSpPr>
          <p:cNvPr id="13" name="Shape 10"/>
          <p:cNvSpPr/>
          <p:nvPr/>
        </p:nvSpPr>
        <p:spPr>
          <a:xfrm>
            <a:off x="7370802" y="951786"/>
            <a:ext cx="6814066" cy="2021562"/>
          </a:xfrm>
          <a:prstGeom prst="roundRect">
            <a:avLst>
              <a:gd name="adj" fmla="val 2314"/>
            </a:avLst>
          </a:prstGeom>
          <a:solidFill>
            <a:srgbClr val="FFFFF4"/>
          </a:solidFill>
          <a:ln w="7620">
            <a:solidFill>
              <a:srgbClr val="FFE0CC"/>
            </a:solidFill>
            <a:prstDash val="solid"/>
          </a:ln>
        </p:spPr>
        <p:txBody>
          <a:bodyPr/>
          <a:lstStyle/>
          <a:p>
            <a:endParaRPr lang="en-GB"/>
          </a:p>
        </p:txBody>
      </p:sp>
      <p:sp>
        <p:nvSpPr>
          <p:cNvPr id="14" name="Shape 11"/>
          <p:cNvSpPr/>
          <p:nvPr/>
        </p:nvSpPr>
        <p:spPr>
          <a:xfrm>
            <a:off x="7489746" y="1070729"/>
            <a:ext cx="334089" cy="334089"/>
          </a:xfrm>
          <a:prstGeom prst="roundRect">
            <a:avLst>
              <a:gd name="adj" fmla="val 27367215"/>
            </a:avLst>
          </a:prstGeom>
          <a:solidFill>
            <a:srgbClr val="FF954F"/>
          </a:solidFill>
          <a:ln/>
        </p:spPr>
        <p:txBody>
          <a:bodyPr/>
          <a:lstStyle/>
          <a:p>
            <a:endParaRPr lang="en-GB"/>
          </a:p>
        </p:txBody>
      </p:sp>
      <p:pic>
        <p:nvPicPr>
          <p:cNvPr id="1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1543" y="1162526"/>
            <a:ext cx="150376" cy="150376"/>
          </a:xfrm>
          <a:prstGeom prst="rect">
            <a:avLst/>
          </a:prstGeom>
        </p:spPr>
      </p:pic>
      <p:sp>
        <p:nvSpPr>
          <p:cNvPr id="16" name="Text 12"/>
          <p:cNvSpPr/>
          <p:nvPr/>
        </p:nvSpPr>
        <p:spPr>
          <a:xfrm>
            <a:off x="7489746" y="1516142"/>
            <a:ext cx="160127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Common Pitfalls</a:t>
            </a:r>
            <a:endParaRPr lang="en-US" sz="1250" dirty="0"/>
          </a:p>
        </p:txBody>
      </p:sp>
      <p:sp>
        <p:nvSpPr>
          <p:cNvPr id="17" name="Text 13"/>
          <p:cNvSpPr/>
          <p:nvPr/>
        </p:nvSpPr>
        <p:spPr>
          <a:xfrm>
            <a:off x="7489746" y="1791057"/>
            <a:ext cx="6576179"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Overusing Singleton—creates hidden dependencies</a:t>
            </a:r>
            <a:endParaRPr lang="en-US" sz="850" dirty="0"/>
          </a:p>
        </p:txBody>
      </p:sp>
      <p:sp>
        <p:nvSpPr>
          <p:cNvPr id="18" name="Text 14"/>
          <p:cNvSpPr/>
          <p:nvPr/>
        </p:nvSpPr>
        <p:spPr>
          <a:xfrm>
            <a:off x="7489746" y="1974771"/>
            <a:ext cx="6576179"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Forgetting to implement deep copy in Prototype</a:t>
            </a:r>
            <a:endParaRPr lang="en-US" sz="850" dirty="0"/>
          </a:p>
        </p:txBody>
      </p:sp>
      <p:sp>
        <p:nvSpPr>
          <p:cNvPr id="19" name="Text 15"/>
          <p:cNvSpPr/>
          <p:nvPr/>
        </p:nvSpPr>
        <p:spPr>
          <a:xfrm>
            <a:off x="7489746" y="2158484"/>
            <a:ext cx="6576179"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Making factories too complex with business logic</a:t>
            </a:r>
            <a:endParaRPr lang="en-US" sz="850" dirty="0"/>
          </a:p>
        </p:txBody>
      </p:sp>
      <p:sp>
        <p:nvSpPr>
          <p:cNvPr id="20" name="Text 16"/>
          <p:cNvSpPr/>
          <p:nvPr/>
        </p:nvSpPr>
        <p:spPr>
          <a:xfrm>
            <a:off x="7489746" y="2342198"/>
            <a:ext cx="6576179"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Not handling serialisation in Singleton properly</a:t>
            </a:r>
            <a:endParaRPr lang="en-US" sz="850" dirty="0"/>
          </a:p>
        </p:txBody>
      </p:sp>
      <p:sp>
        <p:nvSpPr>
          <p:cNvPr id="21" name="Text 17"/>
          <p:cNvSpPr/>
          <p:nvPr/>
        </p:nvSpPr>
        <p:spPr>
          <a:xfrm>
            <a:off x="7489746" y="2525911"/>
            <a:ext cx="6576179"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Creating unnecessary abstractions with Factory Method</a:t>
            </a:r>
            <a:endParaRPr lang="en-US" sz="850" dirty="0"/>
          </a:p>
        </p:txBody>
      </p:sp>
      <p:sp>
        <p:nvSpPr>
          <p:cNvPr id="22" name="Text 18"/>
          <p:cNvSpPr/>
          <p:nvPr/>
        </p:nvSpPr>
        <p:spPr>
          <a:xfrm>
            <a:off x="7489746" y="2709624"/>
            <a:ext cx="6576179" cy="144780"/>
          </a:xfrm>
          <a:prstGeom prst="rect">
            <a:avLst/>
          </a:prstGeom>
          <a:noFill/>
          <a:ln/>
        </p:spPr>
        <p:txBody>
          <a:bodyPr wrap="none" lIns="0" tIns="0" rIns="0" bIns="0" rtlCol="0" anchor="t"/>
          <a:lstStyle/>
          <a:p>
            <a:pPr marL="342900" indent="-342900" algn="l">
              <a:lnSpc>
                <a:spcPts val="1100"/>
              </a:lnSpc>
              <a:buSzPct val="100000"/>
              <a:buChar char="•"/>
            </a:pPr>
            <a:r>
              <a:rPr lang="en-US" sz="850" dirty="0">
                <a:solidFill>
                  <a:srgbClr val="67534F"/>
                </a:solidFill>
                <a:latin typeface="Montserrat" pitchFamily="34" charset="0"/>
                <a:ea typeface="Montserrat" pitchFamily="34" charset="-122"/>
                <a:cs typeface="Montserrat" pitchFamily="34" charset="-120"/>
              </a:rPr>
              <a:t>Missing thread safety in Builder pattern</a:t>
            </a:r>
            <a:endParaRPr lang="en-US" sz="850" dirty="0"/>
          </a:p>
        </p:txBody>
      </p:sp>
      <p:sp>
        <p:nvSpPr>
          <p:cNvPr id="23" name="Text 19"/>
          <p:cNvSpPr/>
          <p:nvPr/>
        </p:nvSpPr>
        <p:spPr>
          <a:xfrm>
            <a:off x="445532" y="3140393"/>
            <a:ext cx="2418159" cy="249793"/>
          </a:xfrm>
          <a:prstGeom prst="rect">
            <a:avLst/>
          </a:prstGeom>
          <a:noFill/>
          <a:ln/>
        </p:spPr>
        <p:txBody>
          <a:bodyPr wrap="none" lIns="0" tIns="0" rIns="0" bIns="0" rtlCol="0" anchor="t"/>
          <a:lstStyle/>
          <a:p>
            <a:pPr marL="0" indent="0" algn="l">
              <a:lnSpc>
                <a:spcPts val="1950"/>
              </a:lnSpc>
              <a:buNone/>
            </a:pPr>
            <a:r>
              <a:rPr lang="en-US" sz="1500" dirty="0">
                <a:solidFill>
                  <a:srgbClr val="532418"/>
                </a:solidFill>
                <a:latin typeface="Marcellus" pitchFamily="34" charset="0"/>
                <a:ea typeface="Marcellus" pitchFamily="34" charset="-122"/>
                <a:cs typeface="Marcellus" pitchFamily="34" charset="-120"/>
              </a:rPr>
              <a:t>Pattern Selection Guidelines</a:t>
            </a:r>
            <a:endParaRPr lang="en-US" sz="1500" dirty="0"/>
          </a:p>
        </p:txBody>
      </p:sp>
      <p:pic>
        <p:nvPicPr>
          <p:cNvPr id="24" name="Image 2" descr="preencoded.png"/>
          <p:cNvPicPr>
            <a:picLocks noChangeAspect="1"/>
          </p:cNvPicPr>
          <p:nvPr/>
        </p:nvPicPr>
        <p:blipFill>
          <a:blip r:embed="rId7"/>
          <a:stretch>
            <a:fillRect/>
          </a:stretch>
        </p:blipFill>
        <p:spPr>
          <a:xfrm>
            <a:off x="445532" y="3557230"/>
            <a:ext cx="556974" cy="668298"/>
          </a:xfrm>
          <a:prstGeom prst="rect">
            <a:avLst/>
          </a:prstGeom>
        </p:spPr>
      </p:pic>
      <p:sp>
        <p:nvSpPr>
          <p:cNvPr id="25" name="Text 20"/>
          <p:cNvSpPr/>
          <p:nvPr/>
        </p:nvSpPr>
        <p:spPr>
          <a:xfrm>
            <a:off x="1113830" y="3668554"/>
            <a:ext cx="160127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Need single instance?</a:t>
            </a:r>
            <a:endParaRPr lang="en-US" sz="1250" dirty="0"/>
          </a:p>
        </p:txBody>
      </p:sp>
      <p:sp>
        <p:nvSpPr>
          <p:cNvPr id="26" name="Text 21"/>
          <p:cNvSpPr/>
          <p:nvPr/>
        </p:nvSpPr>
        <p:spPr>
          <a:xfrm>
            <a:off x="1113830" y="3943469"/>
            <a:ext cx="13071038" cy="144780"/>
          </a:xfrm>
          <a:prstGeom prst="rect">
            <a:avLst/>
          </a:prstGeom>
          <a:noFill/>
          <a:ln/>
        </p:spPr>
        <p:txBody>
          <a:bodyPr wrap="none" lIns="0" tIns="0" rIns="0" bIns="0" rtlCol="0" anchor="t"/>
          <a:lstStyle/>
          <a:p>
            <a:pPr marL="0" indent="0" algn="l">
              <a:lnSpc>
                <a:spcPts val="1100"/>
              </a:lnSpc>
              <a:buNone/>
            </a:pPr>
            <a:r>
              <a:rPr lang="en-US" sz="850" dirty="0">
                <a:solidFill>
                  <a:srgbClr val="67534F"/>
                </a:solidFill>
                <a:latin typeface="Montserrat" pitchFamily="34" charset="0"/>
                <a:ea typeface="Montserrat" pitchFamily="34" charset="-122"/>
                <a:cs typeface="Montserrat" pitchFamily="34" charset="-120"/>
              </a:rPr>
              <a:t>Use </a:t>
            </a:r>
            <a:r>
              <a:rPr lang="en-US" sz="850" b="1" dirty="0">
                <a:solidFill>
                  <a:srgbClr val="67534F"/>
                </a:solidFill>
                <a:latin typeface="Montserrat" pitchFamily="34" charset="0"/>
                <a:ea typeface="Montserrat" pitchFamily="34" charset="-122"/>
                <a:cs typeface="Montserrat" pitchFamily="34" charset="-120"/>
              </a:rPr>
              <a:t>Singleton</a:t>
            </a:r>
            <a:endParaRPr lang="en-US" sz="850" dirty="0"/>
          </a:p>
        </p:txBody>
      </p:sp>
      <p:pic>
        <p:nvPicPr>
          <p:cNvPr id="27" name="Image 3" descr="preencoded.png"/>
          <p:cNvPicPr>
            <a:picLocks noChangeAspect="1"/>
          </p:cNvPicPr>
          <p:nvPr/>
        </p:nvPicPr>
        <p:blipFill>
          <a:blip r:embed="rId8"/>
          <a:stretch>
            <a:fillRect/>
          </a:stretch>
        </p:blipFill>
        <p:spPr>
          <a:xfrm>
            <a:off x="445532" y="4225528"/>
            <a:ext cx="556974" cy="668298"/>
          </a:xfrm>
          <a:prstGeom prst="rect">
            <a:avLst/>
          </a:prstGeom>
        </p:spPr>
      </p:pic>
      <p:sp>
        <p:nvSpPr>
          <p:cNvPr id="28" name="Text 22"/>
          <p:cNvSpPr/>
          <p:nvPr/>
        </p:nvSpPr>
        <p:spPr>
          <a:xfrm>
            <a:off x="1113830" y="4336852"/>
            <a:ext cx="1667589"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Complex construction?</a:t>
            </a:r>
            <a:endParaRPr lang="en-US" sz="1250" dirty="0"/>
          </a:p>
        </p:txBody>
      </p:sp>
      <p:sp>
        <p:nvSpPr>
          <p:cNvPr id="29" name="Text 23"/>
          <p:cNvSpPr/>
          <p:nvPr/>
        </p:nvSpPr>
        <p:spPr>
          <a:xfrm>
            <a:off x="1113830" y="4611767"/>
            <a:ext cx="13071038" cy="144780"/>
          </a:xfrm>
          <a:prstGeom prst="rect">
            <a:avLst/>
          </a:prstGeom>
          <a:noFill/>
          <a:ln/>
        </p:spPr>
        <p:txBody>
          <a:bodyPr wrap="none" lIns="0" tIns="0" rIns="0" bIns="0" rtlCol="0" anchor="t"/>
          <a:lstStyle/>
          <a:p>
            <a:pPr marL="0" indent="0" algn="l">
              <a:lnSpc>
                <a:spcPts val="1100"/>
              </a:lnSpc>
              <a:buNone/>
            </a:pPr>
            <a:r>
              <a:rPr lang="en-US" sz="850" dirty="0">
                <a:solidFill>
                  <a:srgbClr val="67534F"/>
                </a:solidFill>
                <a:latin typeface="Montserrat" pitchFamily="34" charset="0"/>
                <a:ea typeface="Montserrat" pitchFamily="34" charset="-122"/>
                <a:cs typeface="Montserrat" pitchFamily="34" charset="-120"/>
              </a:rPr>
              <a:t>Use </a:t>
            </a:r>
            <a:r>
              <a:rPr lang="en-US" sz="850" b="1" dirty="0">
                <a:solidFill>
                  <a:srgbClr val="67534F"/>
                </a:solidFill>
                <a:latin typeface="Montserrat" pitchFamily="34" charset="0"/>
                <a:ea typeface="Montserrat" pitchFamily="34" charset="-122"/>
                <a:cs typeface="Montserrat" pitchFamily="34" charset="-120"/>
              </a:rPr>
              <a:t>Builder</a:t>
            </a:r>
            <a:endParaRPr lang="en-US" sz="850" dirty="0"/>
          </a:p>
        </p:txBody>
      </p:sp>
      <p:pic>
        <p:nvPicPr>
          <p:cNvPr id="30" name="Image 4" descr="preencoded.png"/>
          <p:cNvPicPr>
            <a:picLocks noChangeAspect="1"/>
          </p:cNvPicPr>
          <p:nvPr/>
        </p:nvPicPr>
        <p:blipFill>
          <a:blip r:embed="rId9"/>
          <a:stretch>
            <a:fillRect/>
          </a:stretch>
        </p:blipFill>
        <p:spPr>
          <a:xfrm>
            <a:off x="445532" y="4893826"/>
            <a:ext cx="556974" cy="668298"/>
          </a:xfrm>
          <a:prstGeom prst="rect">
            <a:avLst/>
          </a:prstGeom>
        </p:spPr>
      </p:pic>
      <p:sp>
        <p:nvSpPr>
          <p:cNvPr id="31" name="Text 24"/>
          <p:cNvSpPr/>
          <p:nvPr/>
        </p:nvSpPr>
        <p:spPr>
          <a:xfrm>
            <a:off x="1113830" y="5005149"/>
            <a:ext cx="160127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Runtime flexibility?</a:t>
            </a:r>
            <a:endParaRPr lang="en-US" sz="1250" dirty="0"/>
          </a:p>
        </p:txBody>
      </p:sp>
      <p:sp>
        <p:nvSpPr>
          <p:cNvPr id="32" name="Text 25"/>
          <p:cNvSpPr/>
          <p:nvPr/>
        </p:nvSpPr>
        <p:spPr>
          <a:xfrm>
            <a:off x="1113830" y="5280065"/>
            <a:ext cx="13071038" cy="144780"/>
          </a:xfrm>
          <a:prstGeom prst="rect">
            <a:avLst/>
          </a:prstGeom>
          <a:noFill/>
          <a:ln/>
        </p:spPr>
        <p:txBody>
          <a:bodyPr wrap="none" lIns="0" tIns="0" rIns="0" bIns="0" rtlCol="0" anchor="t"/>
          <a:lstStyle/>
          <a:p>
            <a:pPr marL="0" indent="0" algn="l">
              <a:lnSpc>
                <a:spcPts val="1100"/>
              </a:lnSpc>
              <a:buNone/>
            </a:pPr>
            <a:r>
              <a:rPr lang="en-US" sz="850" dirty="0">
                <a:solidFill>
                  <a:srgbClr val="67534F"/>
                </a:solidFill>
                <a:latin typeface="Montserrat" pitchFamily="34" charset="0"/>
                <a:ea typeface="Montserrat" pitchFamily="34" charset="-122"/>
                <a:cs typeface="Montserrat" pitchFamily="34" charset="-120"/>
              </a:rPr>
              <a:t>Use </a:t>
            </a:r>
            <a:r>
              <a:rPr lang="en-US" sz="850" b="1" dirty="0">
                <a:solidFill>
                  <a:srgbClr val="67534F"/>
                </a:solidFill>
                <a:latin typeface="Montserrat" pitchFamily="34" charset="0"/>
                <a:ea typeface="Montserrat" pitchFamily="34" charset="-122"/>
                <a:cs typeface="Montserrat" pitchFamily="34" charset="-120"/>
              </a:rPr>
              <a:t>Factory Method</a:t>
            </a:r>
            <a:endParaRPr lang="en-US" sz="850" dirty="0"/>
          </a:p>
        </p:txBody>
      </p:sp>
      <p:pic>
        <p:nvPicPr>
          <p:cNvPr id="33" name="Image 5" descr="preencoded.png"/>
          <p:cNvPicPr>
            <a:picLocks noChangeAspect="1"/>
          </p:cNvPicPr>
          <p:nvPr/>
        </p:nvPicPr>
        <p:blipFill>
          <a:blip r:embed="rId10"/>
          <a:stretch>
            <a:fillRect/>
          </a:stretch>
        </p:blipFill>
        <p:spPr>
          <a:xfrm>
            <a:off x="445532" y="5562124"/>
            <a:ext cx="556974" cy="668298"/>
          </a:xfrm>
          <a:prstGeom prst="rect">
            <a:avLst/>
          </a:prstGeom>
        </p:spPr>
      </p:pic>
      <p:sp>
        <p:nvSpPr>
          <p:cNvPr id="34" name="Text 26"/>
          <p:cNvSpPr/>
          <p:nvPr/>
        </p:nvSpPr>
        <p:spPr>
          <a:xfrm>
            <a:off x="1113830" y="5673447"/>
            <a:ext cx="160127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Related families?</a:t>
            </a:r>
            <a:endParaRPr lang="en-US" sz="1250" dirty="0"/>
          </a:p>
        </p:txBody>
      </p:sp>
      <p:sp>
        <p:nvSpPr>
          <p:cNvPr id="35" name="Text 27"/>
          <p:cNvSpPr/>
          <p:nvPr/>
        </p:nvSpPr>
        <p:spPr>
          <a:xfrm>
            <a:off x="1113830" y="5948363"/>
            <a:ext cx="13071038" cy="144780"/>
          </a:xfrm>
          <a:prstGeom prst="rect">
            <a:avLst/>
          </a:prstGeom>
          <a:noFill/>
          <a:ln/>
        </p:spPr>
        <p:txBody>
          <a:bodyPr wrap="none" lIns="0" tIns="0" rIns="0" bIns="0" rtlCol="0" anchor="t"/>
          <a:lstStyle/>
          <a:p>
            <a:pPr marL="0" indent="0" algn="l">
              <a:lnSpc>
                <a:spcPts val="1100"/>
              </a:lnSpc>
              <a:buNone/>
            </a:pPr>
            <a:r>
              <a:rPr lang="en-US" sz="850" dirty="0">
                <a:solidFill>
                  <a:srgbClr val="67534F"/>
                </a:solidFill>
                <a:latin typeface="Montserrat" pitchFamily="34" charset="0"/>
                <a:ea typeface="Montserrat" pitchFamily="34" charset="-122"/>
                <a:cs typeface="Montserrat" pitchFamily="34" charset="-120"/>
              </a:rPr>
              <a:t>Use </a:t>
            </a:r>
            <a:r>
              <a:rPr lang="en-US" sz="850" b="1" dirty="0">
                <a:solidFill>
                  <a:srgbClr val="67534F"/>
                </a:solidFill>
                <a:latin typeface="Montserrat" pitchFamily="34" charset="0"/>
                <a:ea typeface="Montserrat" pitchFamily="34" charset="-122"/>
                <a:cs typeface="Montserrat" pitchFamily="34" charset="-120"/>
              </a:rPr>
              <a:t>Abstract Factory</a:t>
            </a:r>
            <a:endParaRPr lang="en-US" sz="850" dirty="0"/>
          </a:p>
        </p:txBody>
      </p:sp>
      <p:pic>
        <p:nvPicPr>
          <p:cNvPr id="36" name="Image 6" descr="preencoded.png"/>
          <p:cNvPicPr>
            <a:picLocks noChangeAspect="1"/>
          </p:cNvPicPr>
          <p:nvPr/>
        </p:nvPicPr>
        <p:blipFill>
          <a:blip r:embed="rId11"/>
          <a:stretch>
            <a:fillRect/>
          </a:stretch>
        </p:blipFill>
        <p:spPr>
          <a:xfrm>
            <a:off x="445532" y="6230422"/>
            <a:ext cx="556974" cy="668298"/>
          </a:xfrm>
          <a:prstGeom prst="rect">
            <a:avLst/>
          </a:prstGeom>
        </p:spPr>
      </p:pic>
      <p:sp>
        <p:nvSpPr>
          <p:cNvPr id="37" name="Text 28"/>
          <p:cNvSpPr/>
          <p:nvPr/>
        </p:nvSpPr>
        <p:spPr>
          <a:xfrm>
            <a:off x="1113830" y="6341745"/>
            <a:ext cx="1643658"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arcellus" pitchFamily="34" charset="0"/>
                <a:ea typeface="Marcellus" pitchFamily="34" charset="-122"/>
                <a:cs typeface="Marcellus" pitchFamily="34" charset="-120"/>
              </a:rPr>
              <a:t>Clone existing objects?</a:t>
            </a:r>
            <a:endParaRPr lang="en-US" sz="1250" dirty="0"/>
          </a:p>
        </p:txBody>
      </p:sp>
      <p:sp>
        <p:nvSpPr>
          <p:cNvPr id="38" name="Text 29"/>
          <p:cNvSpPr/>
          <p:nvPr/>
        </p:nvSpPr>
        <p:spPr>
          <a:xfrm>
            <a:off x="1113830" y="6616660"/>
            <a:ext cx="13071038" cy="144780"/>
          </a:xfrm>
          <a:prstGeom prst="rect">
            <a:avLst/>
          </a:prstGeom>
          <a:noFill/>
          <a:ln/>
        </p:spPr>
        <p:txBody>
          <a:bodyPr wrap="none" lIns="0" tIns="0" rIns="0" bIns="0" rtlCol="0" anchor="t"/>
          <a:lstStyle/>
          <a:p>
            <a:pPr marL="0" indent="0" algn="l">
              <a:lnSpc>
                <a:spcPts val="1100"/>
              </a:lnSpc>
              <a:buNone/>
            </a:pPr>
            <a:r>
              <a:rPr lang="en-US" sz="850" dirty="0">
                <a:solidFill>
                  <a:srgbClr val="67534F"/>
                </a:solidFill>
                <a:latin typeface="Montserrat" pitchFamily="34" charset="0"/>
                <a:ea typeface="Montserrat" pitchFamily="34" charset="-122"/>
                <a:cs typeface="Montserrat" pitchFamily="34" charset="-120"/>
              </a:rPr>
              <a:t>Use </a:t>
            </a:r>
            <a:r>
              <a:rPr lang="en-US" sz="850" b="1" dirty="0">
                <a:solidFill>
                  <a:srgbClr val="67534F"/>
                </a:solidFill>
                <a:latin typeface="Montserrat" pitchFamily="34" charset="0"/>
                <a:ea typeface="Montserrat" pitchFamily="34" charset="-122"/>
                <a:cs typeface="Montserrat" pitchFamily="34" charset="-120"/>
              </a:rPr>
              <a:t>Prototype</a:t>
            </a:r>
            <a:endParaRPr lang="en-US" sz="850" dirty="0"/>
          </a:p>
        </p:txBody>
      </p:sp>
      <p:sp>
        <p:nvSpPr>
          <p:cNvPr id="39" name="Text 30"/>
          <p:cNvSpPr/>
          <p:nvPr/>
        </p:nvSpPr>
        <p:spPr>
          <a:xfrm>
            <a:off x="445532" y="7065764"/>
            <a:ext cx="1921550" cy="249793"/>
          </a:xfrm>
          <a:prstGeom prst="rect">
            <a:avLst/>
          </a:prstGeom>
          <a:noFill/>
          <a:ln/>
        </p:spPr>
        <p:txBody>
          <a:bodyPr wrap="none" lIns="0" tIns="0" rIns="0" bIns="0" rtlCol="0" anchor="t"/>
          <a:lstStyle/>
          <a:p>
            <a:pPr marL="0" indent="0" algn="l">
              <a:lnSpc>
                <a:spcPts val="1950"/>
              </a:lnSpc>
              <a:buNone/>
            </a:pPr>
            <a:r>
              <a:rPr lang="en-US" sz="1500" dirty="0">
                <a:solidFill>
                  <a:srgbClr val="532418"/>
                </a:solidFill>
                <a:latin typeface="Marcellus" pitchFamily="34" charset="0"/>
                <a:ea typeface="Marcellus" pitchFamily="34" charset="-122"/>
                <a:cs typeface="Marcellus" pitchFamily="34" charset="-120"/>
              </a:rPr>
              <a:t>Key Takeaways</a:t>
            </a:r>
            <a:endParaRPr lang="en-US" sz="1500" dirty="0"/>
          </a:p>
        </p:txBody>
      </p:sp>
      <p:sp>
        <p:nvSpPr>
          <p:cNvPr id="40" name="Text 31"/>
          <p:cNvSpPr/>
          <p:nvPr/>
        </p:nvSpPr>
        <p:spPr>
          <a:xfrm>
            <a:off x="445532" y="7482602"/>
            <a:ext cx="13739336" cy="434340"/>
          </a:xfrm>
          <a:prstGeom prst="rect">
            <a:avLst/>
          </a:prstGeom>
          <a:noFill/>
          <a:ln/>
        </p:spPr>
        <p:txBody>
          <a:bodyPr wrap="square" lIns="0" tIns="0" rIns="0" bIns="0" rtlCol="0" anchor="t"/>
          <a:lstStyle/>
          <a:p>
            <a:pPr marL="0" indent="0" algn="l">
              <a:lnSpc>
                <a:spcPts val="1100"/>
              </a:lnSpc>
              <a:buNone/>
            </a:pPr>
            <a:r>
              <a:rPr lang="en-US" sz="850" dirty="0">
                <a:solidFill>
                  <a:srgbClr val="67534F"/>
                </a:solidFill>
                <a:latin typeface="Montserrat" pitchFamily="34" charset="0"/>
                <a:ea typeface="Montserrat" pitchFamily="34" charset="-122"/>
                <a:cs typeface="Montserrat" pitchFamily="34" charset="-120"/>
              </a:rPr>
              <a:t>Creational patterns provide powerful tools for managing object creation complexity. Choose patterns based on your specific needs—don't force a pattern where it doesn't fit naturally. Remember that patterns are guidelines, not rigid rules. Adapt them to your context, and always prioritise code clarity and maintainability over strict pattern adherence. Testing becomes easier when you decouple object creation from usage, and your codebase becomes more flexible and easier to extend over time.</a:t>
            </a:r>
            <a:endParaRPr lang="en-US" sz="850" dirty="0"/>
          </a:p>
        </p:txBody>
      </p:sp>
      <p:pic>
        <p:nvPicPr>
          <p:cNvPr id="41" name="Picture 40">
            <a:extLst>
              <a:ext uri="{FF2B5EF4-FFF2-40B4-BE49-F238E27FC236}">
                <a16:creationId xmlns:a16="http://schemas.microsoft.com/office/drawing/2014/main" id="{1CC28B94-A03E-9004-F6F1-84932F4288DC}"/>
              </a:ext>
            </a:extLst>
          </p:cNvPr>
          <p:cNvPicPr>
            <a:picLocks noChangeAspect="1"/>
          </p:cNvPicPr>
          <p:nvPr/>
        </p:nvPicPr>
        <p:blipFill>
          <a:blip r:embed="rId12"/>
          <a:stretch>
            <a:fillRect/>
          </a:stretch>
        </p:blipFill>
        <p:spPr>
          <a:xfrm>
            <a:off x="12837334" y="7781097"/>
            <a:ext cx="1695687" cy="3524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TotalTime>
  <Words>3005</Words>
  <Application>Microsoft Office PowerPoint</Application>
  <PresentationFormat>Custom</PresentationFormat>
  <Paragraphs>361</Paragraphs>
  <Slides>14</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Courier New</vt:lpstr>
      <vt:lpstr>Montserrat</vt:lpstr>
      <vt:lpstr>Arial</vt:lpstr>
      <vt:lpstr>Google Sans</vt:lpstr>
      <vt:lpstr>Marcellus Light</vt:lpstr>
      <vt:lpstr>Marcellus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Kumar, Vivek (Cognizant)</dc:creator>
  <cp:lastModifiedBy>Kumar, Vivek (Cognizant)</cp:lastModifiedBy>
  <cp:revision>6</cp:revision>
  <dcterms:created xsi:type="dcterms:W3CDTF">2025-11-25T13:35:04Z</dcterms:created>
  <dcterms:modified xsi:type="dcterms:W3CDTF">2025-12-08T08:20:33Z</dcterms:modified>
</cp:coreProperties>
</file>